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72" r:id="rId14"/>
    <p:sldId id="270" r:id="rId15"/>
    <p:sldId id="271" r:id="rId16"/>
  </p:sldIdLst>
  <p:sldSz cx="18288000" cy="10287000"/>
  <p:notesSz cx="6858000" cy="9144000"/>
  <p:embeddedFontLst>
    <p:embeddedFont>
      <p:font typeface="Proxima Nova" panose="020B0604020202020204" charset="0"/>
      <p:regular r:id="rId17"/>
    </p:embeddedFont>
    <p:embeddedFont>
      <p:font typeface="Proxima Nova Bold" panose="020B0604020202020204" charset="0"/>
      <p:regular r:id="rId18"/>
    </p:embeddedFont>
    <p:embeddedFont>
      <p:font typeface="Proxima Nova Italics" panose="020B0604020202020204" charset="0"/>
      <p:regular r:id="rId19"/>
    </p:embeddedFont>
    <p:embeddedFont>
      <p:font typeface="Sarpanch" panose="020B0604020202020204" charset="0"/>
      <p:regular r:id="rId20"/>
    </p:embeddedFont>
    <p:embeddedFont>
      <p:font typeface="Sarpanch Ultra-Bold" panose="020B0604020202020204" charset="0"/>
      <p:regular r:id="rId21"/>
    </p:embeddedFont>
    <p:embeddedFont>
      <p:font typeface="Times New Roman MT"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7E1CDD-A0EB-4EDD-A119-CFD243B0DF94}" v="4" dt="2026-03-13T12:47:35.215"/>
  </p1510:revLst>
</p1510:revInfo>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hwanth Odapelli" userId="8a46b59cb735f43a" providerId="LiveId" clId="{6896EAB0-A340-4122-97AA-7D4F8F764F76}"/>
    <pc:docChg chg="undo custSel delSld modSld sldOrd">
      <pc:chgData name="Jashwanth Odapelli" userId="8a46b59cb735f43a" providerId="LiveId" clId="{6896EAB0-A340-4122-97AA-7D4F8F764F76}" dt="2026-03-13T12:52:43.143" v="36" actId="931"/>
      <pc:docMkLst>
        <pc:docMk/>
      </pc:docMkLst>
      <pc:sldChg chg="addSp delSp modSp mod ord">
        <pc:chgData name="Jashwanth Odapelli" userId="8a46b59cb735f43a" providerId="LiveId" clId="{6896EAB0-A340-4122-97AA-7D4F8F764F76}" dt="2026-03-13T12:52:43.143" v="36" actId="931"/>
        <pc:sldMkLst>
          <pc:docMk/>
          <pc:sldMk cId="0" sldId="256"/>
        </pc:sldMkLst>
        <pc:spChg chg="mod">
          <ac:chgData name="Jashwanth Odapelli" userId="8a46b59cb735f43a" providerId="LiveId" clId="{6896EAB0-A340-4122-97AA-7D4F8F764F76}" dt="2026-03-13T12:47:46.961" v="28" actId="20577"/>
          <ac:spMkLst>
            <pc:docMk/>
            <pc:sldMk cId="0" sldId="256"/>
            <ac:spMk id="2" creationId="{00000000-0000-0000-0000-000000000000}"/>
          </ac:spMkLst>
        </pc:spChg>
        <pc:spChg chg="mod">
          <ac:chgData name="Jashwanth Odapelli" userId="8a46b59cb735f43a" providerId="LiveId" clId="{6896EAB0-A340-4122-97AA-7D4F8F764F76}" dt="2026-03-13T12:48:10.103" v="34" actId="1076"/>
          <ac:spMkLst>
            <pc:docMk/>
            <pc:sldMk cId="0" sldId="256"/>
            <ac:spMk id="3" creationId="{00000000-0000-0000-0000-000000000000}"/>
          </ac:spMkLst>
        </pc:spChg>
        <pc:spChg chg="del mod">
          <ac:chgData name="Jashwanth Odapelli" userId="8a46b59cb735f43a" providerId="LiveId" clId="{6896EAB0-A340-4122-97AA-7D4F8F764F76}" dt="2026-03-13T12:48:01.573" v="31"/>
          <ac:spMkLst>
            <pc:docMk/>
            <pc:sldMk cId="0" sldId="256"/>
            <ac:spMk id="4" creationId="{00000000-0000-0000-0000-000000000000}"/>
          </ac:spMkLst>
        </pc:spChg>
        <pc:spChg chg="mod">
          <ac:chgData name="Jashwanth Odapelli" userId="8a46b59cb735f43a" providerId="LiveId" clId="{6896EAB0-A340-4122-97AA-7D4F8F764F76}" dt="2026-03-13T12:48:00.686" v="29" actId="13926"/>
          <ac:spMkLst>
            <pc:docMk/>
            <pc:sldMk cId="0" sldId="256"/>
            <ac:spMk id="5" creationId="{00000000-0000-0000-0000-000000000000}"/>
          </ac:spMkLst>
        </pc:spChg>
        <pc:picChg chg="add mod">
          <ac:chgData name="Jashwanth Odapelli" userId="8a46b59cb735f43a" providerId="LiveId" clId="{6896EAB0-A340-4122-97AA-7D4F8F764F76}" dt="2026-03-13T12:52:43.143" v="36" actId="931"/>
          <ac:picMkLst>
            <pc:docMk/>
            <pc:sldMk cId="0" sldId="256"/>
            <ac:picMk id="7" creationId="{0C5C5BFE-3768-8128-BBF8-0566176CBE70}"/>
          </ac:picMkLst>
        </pc:picChg>
      </pc:sldChg>
      <pc:sldChg chg="del">
        <pc:chgData name="Jashwanth Odapelli" userId="8a46b59cb735f43a" providerId="LiveId" clId="{6896EAB0-A340-4122-97AA-7D4F8F764F76}" dt="2026-03-13T12:52:32.740" v="35" actId="47"/>
        <pc:sldMkLst>
          <pc:docMk/>
          <pc:sldMk cId="0"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7.xml"/><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4" Type="http://schemas.openxmlformats.org/officeDocument/2006/relationships/image" Target="../media/image28.svg"/></Relationships>
</file>

<file path=ppt/slides/_rels/slide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0.png"/><Relationship Id="rId7" Type="http://schemas.openxmlformats.org/officeDocument/2006/relationships/image" Target="../media/image7.png"/><Relationship Id="rId2" Type="http://schemas.openxmlformats.org/officeDocument/2006/relationships/image" Target="../media/image29.jpe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31.svg"/><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7.xml"/><Relationship Id="rId4" Type="http://schemas.openxmlformats.org/officeDocument/2006/relationships/image" Target="../media/image40.sv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svg"/></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7.xml"/><Relationship Id="rId4" Type="http://schemas.openxmlformats.org/officeDocument/2006/relationships/image" Target="../media/image21.svg"/></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5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407"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endParaRPr lang="en-IN" dirty="0"/>
          </a:p>
        </p:txBody>
      </p:sp>
      <p:sp>
        <p:nvSpPr>
          <p:cNvPr id="3" name="TextBox 3"/>
          <p:cNvSpPr txBox="1"/>
          <p:nvPr/>
        </p:nvSpPr>
        <p:spPr>
          <a:xfrm>
            <a:off x="2209800" y="2476500"/>
            <a:ext cx="14992194" cy="2252924"/>
          </a:xfrm>
          <a:prstGeom prst="rect">
            <a:avLst/>
          </a:prstGeom>
        </p:spPr>
        <p:txBody>
          <a:bodyPr wrap="square" lIns="0" tIns="0" rIns="0" bIns="0" rtlCol="0" anchor="t">
            <a:spAutoFit/>
          </a:bodyPr>
          <a:lstStyle/>
          <a:p>
            <a:pPr>
              <a:lnSpc>
                <a:spcPts val="6226"/>
              </a:lnSpc>
            </a:pPr>
            <a:r>
              <a:rPr lang="en-US" sz="5400" dirty="0">
                <a:solidFill>
                  <a:srgbClr val="FFFFFF"/>
                </a:solidFill>
                <a:latin typeface="Times New Roman MT"/>
                <a:ea typeface="Times New Roman MT"/>
                <a:cs typeface="Times New Roman MT"/>
                <a:sym typeface="Times New Roman MT"/>
              </a:rPr>
              <a:t> </a:t>
            </a:r>
            <a:r>
              <a:rPr lang="en-US" sz="5400" dirty="0" err="1">
                <a:solidFill>
                  <a:srgbClr val="FFFFFF"/>
                </a:solidFill>
                <a:latin typeface="Times New Roman MT"/>
                <a:ea typeface="Times New Roman MT"/>
                <a:cs typeface="Times New Roman MT"/>
                <a:sym typeface="Times New Roman MT"/>
              </a:rPr>
              <a:t>StudyMate</a:t>
            </a:r>
            <a:r>
              <a:rPr lang="en-US" sz="5400" dirty="0">
                <a:solidFill>
                  <a:srgbClr val="FFFFFF"/>
                </a:solidFill>
                <a:latin typeface="Times New Roman MT"/>
                <a:ea typeface="Times New Roman MT"/>
                <a:cs typeface="Times New Roman MT"/>
                <a:sym typeface="Times New Roman MT"/>
              </a:rPr>
              <a:t> AI – Personalized Generative AI Learning Assistant</a:t>
            </a:r>
          </a:p>
          <a:p>
            <a:pPr algn="ctr">
              <a:lnSpc>
                <a:spcPts val="4757"/>
              </a:lnSpc>
            </a:pPr>
            <a:endParaRPr lang="en-US" sz="5228" b="1" dirty="0">
              <a:solidFill>
                <a:srgbClr val="FFFFFF"/>
              </a:solidFill>
              <a:latin typeface="Sarpanch Ultra-Bold"/>
              <a:ea typeface="Sarpanch Ultra-Bold"/>
              <a:cs typeface="Sarpanch Ultra-Bold"/>
              <a:sym typeface="Sarpanch Ultra-Bold"/>
            </a:endParaRPr>
          </a:p>
        </p:txBody>
      </p:sp>
      <p:sp>
        <p:nvSpPr>
          <p:cNvPr id="5" name="TextBox 5"/>
          <p:cNvSpPr txBox="1"/>
          <p:nvPr/>
        </p:nvSpPr>
        <p:spPr>
          <a:xfrm>
            <a:off x="819307" y="6354647"/>
            <a:ext cx="16039786" cy="499111"/>
          </a:xfrm>
          <a:prstGeom prst="rect">
            <a:avLst/>
          </a:prstGeom>
        </p:spPr>
        <p:txBody>
          <a:bodyPr lIns="0" tIns="0" rIns="0" bIns="0" rtlCol="0" anchor="t">
            <a:spAutoFit/>
          </a:bodyPr>
          <a:lstStyle/>
          <a:p>
            <a:pPr algn="ctr">
              <a:lnSpc>
                <a:spcPts val="4112"/>
              </a:lnSpc>
            </a:pPr>
            <a:r>
              <a:rPr lang="en-US" sz="3200" dirty="0">
                <a:highlight>
                  <a:srgbClr val="C0C0C0"/>
                </a:highlight>
              </a:rPr>
              <a:t>“AI that helps students learn faster and smarter.”</a:t>
            </a:r>
            <a:endParaRPr lang="en-US" sz="2937" i="1" dirty="0">
              <a:solidFill>
                <a:srgbClr val="FFFFFF"/>
              </a:solidFill>
              <a:highlight>
                <a:srgbClr val="C0C0C0"/>
              </a:highlight>
              <a:latin typeface="Proxima Nova Italics"/>
              <a:ea typeface="Proxima Nova Italics"/>
              <a:cs typeface="Proxima Nova Italics"/>
              <a:sym typeface="Proxima Nova Italics"/>
            </a:endParaRPr>
          </a:p>
        </p:txBody>
      </p:sp>
      <p:pic>
        <p:nvPicPr>
          <p:cNvPr id="7" name="Picture 6">
            <a:extLst>
              <a:ext uri="{FF2B5EF4-FFF2-40B4-BE49-F238E27FC236}">
                <a16:creationId xmlns:a16="http://schemas.microsoft.com/office/drawing/2014/main" id="{0C5C5BFE-3768-8128-BBF8-0566176CBE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pic>
        <p:nvPicPr>
          <p:cNvPr id="6" name="Picture 5">
            <a:extLst>
              <a:ext uri="{FF2B5EF4-FFF2-40B4-BE49-F238E27FC236}">
                <a16:creationId xmlns:a16="http://schemas.microsoft.com/office/drawing/2014/main" id="{8DAD1338-EB24-5632-244F-F35AA64A18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124" y="-25810"/>
            <a:ext cx="18310123" cy="1031281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253879" y="1028700"/>
            <a:ext cx="6005421" cy="5896232"/>
            <a:chOff x="0" y="0"/>
            <a:chExt cx="8007228" cy="7861642"/>
          </a:xfrm>
        </p:grpSpPr>
        <p:sp>
          <p:nvSpPr>
            <p:cNvPr id="4" name="Freeform 4"/>
            <p:cNvSpPr/>
            <p:nvPr/>
          </p:nvSpPr>
          <p:spPr>
            <a:xfrm>
              <a:off x="1665983" y="1187621"/>
              <a:ext cx="5486400" cy="5486400"/>
            </a:xfrm>
            <a:custGeom>
              <a:avLst/>
              <a:gdLst/>
              <a:ahLst/>
              <a:cxnLst/>
              <a:rect l="l" t="t" r="r" b="b"/>
              <a:pathLst>
                <a:path w="5486400" h="5486400">
                  <a:moveTo>
                    <a:pt x="0" y="0"/>
                  </a:moveTo>
                  <a:lnTo>
                    <a:pt x="5486400" y="0"/>
                  </a:lnTo>
                  <a:lnTo>
                    <a:pt x="5486400" y="5486400"/>
                  </a:lnTo>
                  <a:lnTo>
                    <a:pt x="0" y="5486400"/>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sp>
        <p:sp>
          <p:nvSpPr>
            <p:cNvPr id="5" name="Freeform 5"/>
            <p:cNvSpPr/>
            <p:nvPr/>
          </p:nvSpPr>
          <p:spPr>
            <a:xfrm>
              <a:off x="0" y="0"/>
              <a:ext cx="8007228" cy="7861642"/>
            </a:xfrm>
            <a:custGeom>
              <a:avLst/>
              <a:gdLst/>
              <a:ahLst/>
              <a:cxnLst/>
              <a:rect l="l" t="t" r="r" b="b"/>
              <a:pathLst>
                <a:path w="8007228" h="7861642">
                  <a:moveTo>
                    <a:pt x="0" y="0"/>
                  </a:moveTo>
                  <a:lnTo>
                    <a:pt x="8007228" y="0"/>
                  </a:lnTo>
                  <a:lnTo>
                    <a:pt x="8007228" y="7861642"/>
                  </a:lnTo>
                  <a:lnTo>
                    <a:pt x="0" y="7861642"/>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sp>
      </p:grpSp>
      <p:sp>
        <p:nvSpPr>
          <p:cNvPr id="6" name="TextBox 6"/>
          <p:cNvSpPr txBox="1"/>
          <p:nvPr/>
        </p:nvSpPr>
        <p:spPr>
          <a:xfrm>
            <a:off x="783044" y="797944"/>
            <a:ext cx="12399282" cy="1041119"/>
          </a:xfrm>
          <a:prstGeom prst="rect">
            <a:avLst/>
          </a:prstGeom>
        </p:spPr>
        <p:txBody>
          <a:bodyPr lIns="0" tIns="0" rIns="0" bIns="0" rtlCol="0" anchor="t">
            <a:spAutoFit/>
          </a:bodyPr>
          <a:lstStyle/>
          <a:p>
            <a:pPr algn="l">
              <a:lnSpc>
                <a:spcPts val="7734"/>
              </a:lnSpc>
            </a:pPr>
            <a:r>
              <a:rPr lang="en-US" sz="7812" b="1" dirty="0">
                <a:solidFill>
                  <a:srgbClr val="FFFFFF"/>
                </a:solidFill>
                <a:latin typeface="Sarpanch"/>
                <a:ea typeface="Sarpanch"/>
                <a:cs typeface="Sarpanch"/>
                <a:sym typeface="Sarpanch"/>
              </a:rPr>
              <a:t>INTRODUCTION :</a:t>
            </a:r>
          </a:p>
        </p:txBody>
      </p:sp>
      <p:sp>
        <p:nvSpPr>
          <p:cNvPr id="7" name="TextBox 7"/>
          <p:cNvSpPr txBox="1"/>
          <p:nvPr/>
        </p:nvSpPr>
        <p:spPr>
          <a:xfrm>
            <a:off x="760921" y="2260676"/>
            <a:ext cx="16652903" cy="7604711"/>
          </a:xfrm>
          <a:prstGeom prst="rect">
            <a:avLst/>
          </a:prstGeom>
        </p:spPr>
        <p:txBody>
          <a:bodyPr lIns="0" tIns="0" rIns="0" bIns="0" rtlCol="0" anchor="t">
            <a:spAutoFit/>
          </a:bodyPr>
          <a:lstStyle/>
          <a:p>
            <a:pPr algn="just">
              <a:lnSpc>
                <a:spcPts val="4551"/>
              </a:lnSpc>
            </a:pPr>
            <a:r>
              <a:rPr lang="en-US" sz="2917" dirty="0">
                <a:solidFill>
                  <a:srgbClr val="FFFFFF"/>
                </a:solidFill>
                <a:latin typeface="Proxima Nova"/>
                <a:ea typeface="Proxima Nova"/>
                <a:cs typeface="Proxima Nova"/>
                <a:sym typeface="Proxima Nova"/>
              </a:rPr>
              <a:t>■ Study Mate AI is a Generative AI–powered learning assistant designed to help students understand complex study materials more easily. Many students struggle with lengthy textbooks, lecture notes, and difficult programming concepts due to the lack of personalized guidance. Traditional learning platforms often provide the same explanations for all learners, which may not suit different learning levels. </a:t>
            </a:r>
          </a:p>
          <a:p>
            <a:pPr algn="just">
              <a:lnSpc>
                <a:spcPts val="4551"/>
              </a:lnSpc>
            </a:pPr>
            <a:endParaRPr lang="en-US" sz="2917" dirty="0">
              <a:solidFill>
                <a:srgbClr val="FFFFFF"/>
              </a:solidFill>
              <a:latin typeface="Proxima Nova"/>
              <a:ea typeface="Proxima Nova"/>
              <a:cs typeface="Proxima Nova"/>
              <a:sym typeface="Proxima Nova"/>
            </a:endParaRPr>
          </a:p>
          <a:p>
            <a:pPr algn="just">
              <a:lnSpc>
                <a:spcPts val="4551"/>
              </a:lnSpc>
            </a:pPr>
            <a:r>
              <a:rPr lang="en-US" sz="2917" dirty="0">
                <a:solidFill>
                  <a:srgbClr val="FFFFFF"/>
                </a:solidFill>
                <a:latin typeface="Proxima Nova"/>
                <a:ea typeface="Proxima Nova"/>
                <a:cs typeface="Proxima Nova"/>
                <a:sym typeface="Proxima Nova"/>
              </a:rPr>
              <a:t>■ Study Mate AI addresses this problem by converting study content into simplified explanations, summaries, quizzes, and flashcards. The system uses generative AI to analyze the input provided by students and generates learning resources tailored to their understanding level—Beginner, Intermediate, or Advanced. By transforming static study material into interactive learning tools, Study Mate AI makes studying faster, more engaging, and more effective for students.</a:t>
            </a:r>
          </a:p>
          <a:p>
            <a:pPr algn="just">
              <a:lnSpc>
                <a:spcPts val="4551"/>
              </a:lnSpc>
            </a:pPr>
            <a:endParaRPr lang="en-US" sz="2917" dirty="0">
              <a:solidFill>
                <a:srgbClr val="FFFFFF"/>
              </a:solidFill>
              <a:latin typeface="Proxima Nova"/>
              <a:ea typeface="Proxima Nova"/>
              <a:cs typeface="Proxima Nova"/>
              <a:sym typeface="Proxima Nova"/>
            </a:endParaRPr>
          </a:p>
          <a:p>
            <a:pPr algn="just">
              <a:lnSpc>
                <a:spcPts val="4551"/>
              </a:lnSpc>
            </a:pPr>
            <a:endParaRPr lang="en-US" sz="2917" dirty="0">
              <a:solidFill>
                <a:srgbClr val="FFFFFF"/>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28700" y="37855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alphaModFix amt="44999"/>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09600" y="876300"/>
            <a:ext cx="5419513" cy="976886"/>
          </a:xfrm>
          <a:prstGeom prst="rect">
            <a:avLst/>
          </a:prstGeom>
        </p:spPr>
        <p:txBody>
          <a:bodyPr lIns="0" tIns="0" rIns="0" bIns="0" rtlCol="0" anchor="t">
            <a:spAutoFit/>
          </a:bodyPr>
          <a:lstStyle/>
          <a:p>
            <a:pPr algn="r">
              <a:lnSpc>
                <a:spcPts val="7301"/>
              </a:lnSpc>
            </a:pPr>
            <a:r>
              <a:rPr lang="en-US" sz="7375" b="1" dirty="0">
                <a:solidFill>
                  <a:srgbClr val="FFFFFF"/>
                </a:solidFill>
                <a:latin typeface="Sarpanch"/>
                <a:ea typeface="Sarpanch"/>
                <a:cs typeface="Sarpanch"/>
                <a:sym typeface="Sarpanch"/>
              </a:rPr>
              <a:t>ABSTRACT:</a:t>
            </a:r>
          </a:p>
        </p:txBody>
      </p:sp>
      <p:sp>
        <p:nvSpPr>
          <p:cNvPr id="5" name="Freeform 5"/>
          <p:cNvSpPr/>
          <p:nvPr/>
        </p:nvSpPr>
        <p:spPr>
          <a:xfrm>
            <a:off x="1268494" y="3916950"/>
            <a:ext cx="5991495" cy="5991495"/>
          </a:xfrm>
          <a:custGeom>
            <a:avLst/>
            <a:gdLst/>
            <a:ahLst/>
            <a:cxnLst/>
            <a:rect l="l" t="t" r="r" b="b"/>
            <a:pathLst>
              <a:path w="5991495" h="5991495">
                <a:moveTo>
                  <a:pt x="0" y="0"/>
                </a:moveTo>
                <a:lnTo>
                  <a:pt x="5991495" y="0"/>
                </a:lnTo>
                <a:lnTo>
                  <a:pt x="5991495" y="5991495"/>
                </a:lnTo>
                <a:lnTo>
                  <a:pt x="0" y="5991495"/>
                </a:lnTo>
                <a:lnTo>
                  <a:pt x="0" y="0"/>
                </a:lnTo>
                <a:close/>
              </a:path>
            </a:pathLst>
          </a:custGeom>
          <a:blipFill>
            <a:blip r:embed="rId5">
              <a:alphaModFix amt="31000"/>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912854" y="2220998"/>
            <a:ext cx="16462291" cy="7086171"/>
          </a:xfrm>
          <a:prstGeom prst="rect">
            <a:avLst/>
          </a:prstGeom>
        </p:spPr>
        <p:txBody>
          <a:bodyPr lIns="0" tIns="0" rIns="0" bIns="0" rtlCol="0" anchor="t">
            <a:spAutoFit/>
          </a:bodyPr>
          <a:lstStyle/>
          <a:p>
            <a:pPr algn="just">
              <a:lnSpc>
                <a:spcPts val="4450"/>
              </a:lnSpc>
            </a:pPr>
            <a:r>
              <a:rPr lang="en-US" sz="2798" dirty="0">
                <a:solidFill>
                  <a:srgbClr val="FFFFFF"/>
                </a:solidFill>
                <a:latin typeface="Proxima Nova"/>
                <a:ea typeface="Proxima Nova"/>
                <a:cs typeface="Proxima Nova"/>
                <a:sym typeface="Proxima Nova"/>
              </a:rPr>
              <a:t>■ Students often struggle to understand complex textbooks, lecture notes, and programming concepts due to a lack of personalized guidance and interactive learning tools. Most existing educational platforms provide static explanations that do not adapt to the learning pace or knowledge level of individual students.</a:t>
            </a:r>
          </a:p>
          <a:p>
            <a:pPr algn="just">
              <a:lnSpc>
                <a:spcPts val="4291"/>
              </a:lnSpc>
            </a:pPr>
            <a:r>
              <a:rPr lang="en-US" sz="2698" dirty="0">
                <a:solidFill>
                  <a:srgbClr val="FFFFFF"/>
                </a:solidFill>
                <a:latin typeface="Proxima Nova"/>
                <a:ea typeface="Proxima Nova"/>
                <a:cs typeface="Proxima Nova"/>
                <a:sym typeface="Proxima Nova"/>
              </a:rPr>
              <a:t>■ Study Mate AI is a Generative AI–powered learning assistant designed to transform traditional study material into personalized and interactive learning experiences. The platform allows students to input lecture notes, textbook content, or academic questions, which are then analyzed using a generative AI model to produce simplified explanations, concise summaries, quizzes, and flashcards.</a:t>
            </a:r>
          </a:p>
          <a:p>
            <a:pPr algn="just">
              <a:lnSpc>
                <a:spcPts val="4148"/>
              </a:lnSpc>
            </a:pPr>
            <a:r>
              <a:rPr lang="en-US" sz="2609" dirty="0">
                <a:solidFill>
                  <a:srgbClr val="FFFFFF"/>
                </a:solidFill>
                <a:latin typeface="Proxima Nova"/>
                <a:ea typeface="Proxima Nova"/>
                <a:cs typeface="Proxima Nova"/>
                <a:sym typeface="Proxima Nova"/>
              </a:rPr>
              <a:t>■ A key feature of Study Mate AI is its Personalized Learning Mode, which adapts explanations according to the student’s learning level—Beginner, Intermediate, or Advanced—ensuring that complex topics are explained in a way that matches the learner’s understanding. The system also includes an AI Quiz Generator and Flashcard Creator to help students revise and test their knowledge efficiently. For programming subjects, Study Mate AI provides step-by-step code explanations, making it easier for students to grasp logic and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11" b="-8111"/>
            </a:stretch>
          </a:blipFill>
        </p:spPr>
      </p:sp>
      <p:sp>
        <p:nvSpPr>
          <p:cNvPr id="3" name="Freeform 3"/>
          <p:cNvSpPr/>
          <p:nvPr/>
        </p:nvSpPr>
        <p:spPr>
          <a:xfrm>
            <a:off x="7964924" y="4156973"/>
            <a:ext cx="2393845" cy="2393845"/>
          </a:xfrm>
          <a:custGeom>
            <a:avLst/>
            <a:gdLst/>
            <a:ahLst/>
            <a:cxnLst/>
            <a:rect l="l" t="t" r="r" b="b"/>
            <a:pathLst>
              <a:path w="2393845" h="2393845">
                <a:moveTo>
                  <a:pt x="0" y="0"/>
                </a:moveTo>
                <a:lnTo>
                  <a:pt x="2393846" y="0"/>
                </a:lnTo>
                <a:lnTo>
                  <a:pt x="2393846" y="2393845"/>
                </a:lnTo>
                <a:lnTo>
                  <a:pt x="0" y="2393845"/>
                </a:lnTo>
                <a:lnTo>
                  <a:pt x="0" y="0"/>
                </a:lnTo>
                <a:close/>
              </a:path>
            </a:pathLst>
          </a:custGeom>
          <a:blipFill>
            <a:blip r:embed="rId3">
              <a:alphaModFix amt="48000"/>
              <a:extLst>
                <a:ext uri="{96DAC541-7B7A-43D3-8B79-37D633B846F1}">
                  <asvg:svgBlip xmlns:asvg="http://schemas.microsoft.com/office/drawing/2016/SVG/main" r:embed="rId4"/>
                </a:ext>
              </a:extLst>
            </a:blip>
            <a:stretch>
              <a:fillRect/>
            </a:stretch>
          </a:blipFill>
        </p:spPr>
      </p:sp>
      <p:sp>
        <p:nvSpPr>
          <p:cNvPr id="4" name="Freeform 4"/>
          <p:cNvSpPr/>
          <p:nvPr/>
        </p:nvSpPr>
        <p:spPr>
          <a:xfrm>
            <a:off x="2571488" y="4156973"/>
            <a:ext cx="2393845" cy="2393845"/>
          </a:xfrm>
          <a:custGeom>
            <a:avLst/>
            <a:gdLst/>
            <a:ahLst/>
            <a:cxnLst/>
            <a:rect l="l" t="t" r="r" b="b"/>
            <a:pathLst>
              <a:path w="2393845" h="2393845">
                <a:moveTo>
                  <a:pt x="0" y="0"/>
                </a:moveTo>
                <a:lnTo>
                  <a:pt x="2393845" y="0"/>
                </a:lnTo>
                <a:lnTo>
                  <a:pt x="2393845" y="2393845"/>
                </a:lnTo>
                <a:lnTo>
                  <a:pt x="0" y="2393845"/>
                </a:lnTo>
                <a:lnTo>
                  <a:pt x="0" y="0"/>
                </a:lnTo>
                <a:close/>
              </a:path>
            </a:pathLst>
          </a:custGeom>
          <a:blipFill>
            <a:blip r:embed="rId5">
              <a:alphaModFix amt="54000"/>
              <a:extLst>
                <a:ext uri="{96DAC541-7B7A-43D3-8B79-37D633B846F1}">
                  <asvg:svgBlip xmlns:asvg="http://schemas.microsoft.com/office/drawing/2016/SVG/main" r:embed="rId6"/>
                </a:ext>
              </a:extLst>
            </a:blip>
            <a:stretch>
              <a:fillRect/>
            </a:stretch>
          </a:blipFill>
        </p:spPr>
      </p:sp>
      <p:sp>
        <p:nvSpPr>
          <p:cNvPr id="5" name="Freeform 5"/>
          <p:cNvSpPr/>
          <p:nvPr/>
        </p:nvSpPr>
        <p:spPr>
          <a:xfrm>
            <a:off x="13165322" y="4156973"/>
            <a:ext cx="2393845" cy="2393845"/>
          </a:xfrm>
          <a:custGeom>
            <a:avLst/>
            <a:gdLst/>
            <a:ahLst/>
            <a:cxnLst/>
            <a:rect l="l" t="t" r="r" b="b"/>
            <a:pathLst>
              <a:path w="2393845" h="2393845">
                <a:moveTo>
                  <a:pt x="0" y="0"/>
                </a:moveTo>
                <a:lnTo>
                  <a:pt x="2393845" y="0"/>
                </a:lnTo>
                <a:lnTo>
                  <a:pt x="2393845" y="2393845"/>
                </a:lnTo>
                <a:lnTo>
                  <a:pt x="0" y="2393845"/>
                </a:lnTo>
                <a:lnTo>
                  <a:pt x="0" y="0"/>
                </a:lnTo>
                <a:close/>
              </a:path>
            </a:pathLst>
          </a:custGeom>
          <a:blipFill>
            <a:blip r:embed="rId7">
              <a:alphaModFix amt="48000"/>
              <a:extLst>
                <a:ext uri="{96DAC541-7B7A-43D3-8B79-37D633B846F1}">
                  <asvg:svgBlip xmlns:asvg="http://schemas.microsoft.com/office/drawing/2016/SVG/main" r:embed="rId8"/>
                </a:ext>
              </a:extLst>
            </a:blip>
            <a:stretch>
              <a:fillRect/>
            </a:stretch>
          </a:blipFill>
        </p:spPr>
      </p:sp>
      <p:sp>
        <p:nvSpPr>
          <p:cNvPr id="6" name="TextBox 6"/>
          <p:cNvSpPr txBox="1"/>
          <p:nvPr/>
        </p:nvSpPr>
        <p:spPr>
          <a:xfrm>
            <a:off x="990600" y="2616824"/>
            <a:ext cx="16705958" cy="2323276"/>
          </a:xfrm>
          <a:prstGeom prst="rect">
            <a:avLst/>
          </a:prstGeom>
        </p:spPr>
        <p:txBody>
          <a:bodyPr lIns="0" tIns="0" rIns="0" bIns="0" rtlCol="0" anchor="t">
            <a:spAutoFit/>
          </a:bodyPr>
          <a:lstStyle/>
          <a:p>
            <a:pPr algn="just">
              <a:lnSpc>
                <a:spcPts val="3720"/>
              </a:lnSpc>
              <a:spcBef>
                <a:spcPct val="0"/>
              </a:spcBef>
            </a:pPr>
            <a:r>
              <a:rPr lang="en-US" sz="2800" b="1" dirty="0">
                <a:solidFill>
                  <a:srgbClr val="F7F7F0"/>
                </a:solidFill>
                <a:latin typeface="Proxima Nova Bold"/>
                <a:ea typeface="Proxima Nova Bold"/>
                <a:cs typeface="Proxima Nova Bold"/>
                <a:sym typeface="Proxima Nova Bold"/>
              </a:rPr>
              <a:t>■ Students spend excessive time trying to understand complex textbooks, lecture notes, and programming concepts without personalized guidance . Existing learning platforms deliver static content and fail to adapt explanations to different student learning levels . There is a need for an AI-powered system that converts study material into personalized explanations, summaries, quizzes, and flashcards to make learning faster , interactive, and efficient.</a:t>
            </a:r>
          </a:p>
        </p:txBody>
      </p:sp>
      <p:sp>
        <p:nvSpPr>
          <p:cNvPr id="7" name="TextBox 7"/>
          <p:cNvSpPr txBox="1"/>
          <p:nvPr/>
        </p:nvSpPr>
        <p:spPr>
          <a:xfrm>
            <a:off x="64" y="5441947"/>
            <a:ext cx="10577065" cy="1108871"/>
          </a:xfrm>
          <a:prstGeom prst="rect">
            <a:avLst/>
          </a:prstGeom>
        </p:spPr>
        <p:txBody>
          <a:bodyPr lIns="0" tIns="0" rIns="0" bIns="0" rtlCol="0" anchor="t">
            <a:spAutoFit/>
          </a:bodyPr>
          <a:lstStyle/>
          <a:p>
            <a:pPr algn="ctr">
              <a:lnSpc>
                <a:spcPts val="4366"/>
              </a:lnSpc>
            </a:pPr>
            <a:r>
              <a:rPr lang="en-US" sz="3118" b="1" dirty="0">
                <a:solidFill>
                  <a:srgbClr val="F7F7F0"/>
                </a:solidFill>
                <a:latin typeface="Proxima Nova Bold"/>
                <a:ea typeface="Proxima Nova Bold"/>
                <a:cs typeface="Proxima Nova Bold"/>
                <a:sym typeface="Proxima Nova Bold"/>
              </a:rPr>
              <a:t>■  Students face major challenges while studying:</a:t>
            </a:r>
          </a:p>
          <a:p>
            <a:pPr algn="ctr">
              <a:lnSpc>
                <a:spcPts val="4646"/>
              </a:lnSpc>
              <a:spcBef>
                <a:spcPct val="0"/>
              </a:spcBef>
            </a:pPr>
            <a:endParaRPr lang="en-US" sz="3118" b="1" dirty="0">
              <a:solidFill>
                <a:srgbClr val="F7F7F0"/>
              </a:solidFill>
              <a:latin typeface="Proxima Nova Bold"/>
              <a:ea typeface="Proxima Nova Bold"/>
              <a:cs typeface="Proxima Nova Bold"/>
              <a:sym typeface="Proxima Nova Bold"/>
            </a:endParaRPr>
          </a:p>
        </p:txBody>
      </p:sp>
      <p:sp>
        <p:nvSpPr>
          <p:cNvPr id="8" name="TextBox 8"/>
          <p:cNvSpPr txBox="1"/>
          <p:nvPr/>
        </p:nvSpPr>
        <p:spPr>
          <a:xfrm>
            <a:off x="1600200" y="6279234"/>
            <a:ext cx="14571956" cy="2284475"/>
          </a:xfrm>
          <a:prstGeom prst="rect">
            <a:avLst/>
          </a:prstGeom>
        </p:spPr>
        <p:txBody>
          <a:bodyPr lIns="0" tIns="0" rIns="0" bIns="0" rtlCol="0" anchor="t">
            <a:spAutoFit/>
          </a:bodyPr>
          <a:lstStyle/>
          <a:p>
            <a:pPr algn="just">
              <a:lnSpc>
                <a:spcPts val="4544"/>
              </a:lnSpc>
            </a:pPr>
            <a:r>
              <a:rPr lang="en-US" sz="3246" dirty="0">
                <a:solidFill>
                  <a:srgbClr val="FFFFFF"/>
                </a:solidFill>
                <a:latin typeface="Proxima Nova"/>
                <a:ea typeface="Proxima Nova"/>
                <a:cs typeface="Proxima Nova"/>
                <a:sym typeface="Proxima Nova"/>
              </a:rPr>
              <a:t>• Large and complex textbooks that are difficult for students to understand</a:t>
            </a:r>
          </a:p>
          <a:p>
            <a:pPr algn="just">
              <a:lnSpc>
                <a:spcPts val="4544"/>
              </a:lnSpc>
            </a:pPr>
            <a:r>
              <a:rPr lang="en-US" sz="3246" dirty="0">
                <a:solidFill>
                  <a:srgbClr val="FFFFFF"/>
                </a:solidFill>
                <a:latin typeface="Proxima Nova"/>
                <a:ea typeface="Proxima Nova"/>
                <a:cs typeface="Proxima Nova"/>
                <a:sym typeface="Proxima Nova"/>
              </a:rPr>
              <a:t>• Challenging concepts with limited guidance or explanation</a:t>
            </a:r>
          </a:p>
          <a:p>
            <a:pPr algn="just">
              <a:lnSpc>
                <a:spcPts val="4544"/>
              </a:lnSpc>
            </a:pPr>
            <a:r>
              <a:rPr lang="en-US" sz="3246" dirty="0">
                <a:solidFill>
                  <a:srgbClr val="FFFFFF"/>
                </a:solidFill>
                <a:latin typeface="Proxima Nova"/>
                <a:ea typeface="Proxima Nova"/>
                <a:cs typeface="Proxima Nova"/>
                <a:sym typeface="Proxima Nova"/>
              </a:rPr>
              <a:t>• Time-consuming manual note summarization during study and revision</a:t>
            </a:r>
          </a:p>
          <a:p>
            <a:pPr algn="just">
              <a:lnSpc>
                <a:spcPts val="4544"/>
              </a:lnSpc>
              <a:spcBef>
                <a:spcPct val="0"/>
              </a:spcBef>
            </a:pPr>
            <a:r>
              <a:rPr lang="en-US" sz="3246" dirty="0">
                <a:solidFill>
                  <a:srgbClr val="FFFFFF"/>
                </a:solidFill>
                <a:latin typeface="Proxima Nova"/>
                <a:ea typeface="Proxima Nova"/>
                <a:cs typeface="Proxima Nova"/>
                <a:sym typeface="Proxima Nova"/>
              </a:rPr>
              <a:t>• Lack of personalized learning support based on individual student needs</a:t>
            </a:r>
          </a:p>
        </p:txBody>
      </p:sp>
      <p:sp>
        <p:nvSpPr>
          <p:cNvPr id="9" name="TextBox 9"/>
          <p:cNvSpPr txBox="1"/>
          <p:nvPr/>
        </p:nvSpPr>
        <p:spPr>
          <a:xfrm>
            <a:off x="0" y="1016423"/>
            <a:ext cx="11845738" cy="931473"/>
          </a:xfrm>
          <a:prstGeom prst="rect">
            <a:avLst/>
          </a:prstGeom>
        </p:spPr>
        <p:txBody>
          <a:bodyPr lIns="0" tIns="0" rIns="0" bIns="0" rtlCol="0" anchor="t">
            <a:spAutoFit/>
          </a:bodyPr>
          <a:lstStyle/>
          <a:p>
            <a:pPr algn="ctr">
              <a:lnSpc>
                <a:spcPts val="6892"/>
              </a:lnSpc>
            </a:pPr>
            <a:r>
              <a:rPr lang="en-US" sz="6962" dirty="0">
                <a:solidFill>
                  <a:srgbClr val="FFFFFF"/>
                </a:solidFill>
                <a:latin typeface="Sarpanch"/>
                <a:ea typeface="Sarpanch"/>
                <a:cs typeface="Sarpanch"/>
                <a:sym typeface="Sarpanch"/>
              </a:rPr>
              <a:t> </a:t>
            </a:r>
            <a:r>
              <a:rPr lang="en-US" sz="6962" b="1" dirty="0">
                <a:solidFill>
                  <a:srgbClr val="FFFFFF"/>
                </a:solidFill>
                <a:latin typeface="Sarpanch"/>
                <a:ea typeface="Sarpanch"/>
                <a:cs typeface="Sarpanch"/>
                <a:sym typeface="Sarpanch"/>
              </a:rPr>
              <a:t>PROBLEM STATEMENT </a:t>
            </a:r>
            <a:r>
              <a:rPr lang="en-US" sz="6962" dirty="0">
                <a:solidFill>
                  <a:srgbClr val="FFFFFF"/>
                </a:solidFill>
                <a:latin typeface="Sarpanch"/>
                <a:ea typeface="Sarpanch"/>
                <a:cs typeface="Sarpanch"/>
                <a:sym typeface="Sarpanch"/>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0000" r="-10000"/>
            </a:stretch>
          </a:blipFill>
        </p:spPr>
      </p:sp>
      <p:sp>
        <p:nvSpPr>
          <p:cNvPr id="3" name="Freeform 3"/>
          <p:cNvSpPr/>
          <p:nvPr/>
        </p:nvSpPr>
        <p:spPr>
          <a:xfrm>
            <a:off x="0" y="0"/>
            <a:ext cx="6472238" cy="6472238"/>
          </a:xfrm>
          <a:custGeom>
            <a:avLst/>
            <a:gdLst/>
            <a:ahLst/>
            <a:cxnLst/>
            <a:rect l="l" t="t" r="r" b="b"/>
            <a:pathLst>
              <a:path w="6472238" h="6472238">
                <a:moveTo>
                  <a:pt x="0" y="0"/>
                </a:moveTo>
                <a:lnTo>
                  <a:pt x="6472238" y="0"/>
                </a:lnTo>
                <a:lnTo>
                  <a:pt x="6472238" y="6472238"/>
                </a:lnTo>
                <a:lnTo>
                  <a:pt x="0" y="6472238"/>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sp>
      <p:sp>
        <p:nvSpPr>
          <p:cNvPr id="4" name="Freeform 4"/>
          <p:cNvSpPr/>
          <p:nvPr/>
        </p:nvSpPr>
        <p:spPr>
          <a:xfrm>
            <a:off x="3989614" y="6253266"/>
            <a:ext cx="3083719" cy="3083719"/>
          </a:xfrm>
          <a:custGeom>
            <a:avLst/>
            <a:gdLst/>
            <a:ahLst/>
            <a:cxnLst/>
            <a:rect l="l" t="t" r="r" b="b"/>
            <a:pathLst>
              <a:path w="3083719" h="3083719">
                <a:moveTo>
                  <a:pt x="0" y="0"/>
                </a:moveTo>
                <a:lnTo>
                  <a:pt x="3083719" y="0"/>
                </a:lnTo>
                <a:lnTo>
                  <a:pt x="3083719" y="3083719"/>
                </a:lnTo>
                <a:lnTo>
                  <a:pt x="0" y="3083719"/>
                </a:lnTo>
                <a:lnTo>
                  <a:pt x="0" y="0"/>
                </a:lnTo>
                <a:close/>
              </a:path>
            </a:pathLst>
          </a:custGeom>
          <a:blipFill>
            <a:blip r:embed="rId3">
              <a:alphaModFix amt="46000"/>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028700" y="2228891"/>
            <a:ext cx="15806983" cy="8438207"/>
          </a:xfrm>
          <a:prstGeom prst="rect">
            <a:avLst/>
          </a:prstGeom>
        </p:spPr>
        <p:txBody>
          <a:bodyPr lIns="0" tIns="0" rIns="0" bIns="0" rtlCol="0" anchor="t">
            <a:spAutoFit/>
          </a:bodyPr>
          <a:lstStyle/>
          <a:p>
            <a:pPr algn="just">
              <a:lnSpc>
                <a:spcPts val="4832"/>
              </a:lnSpc>
            </a:pPr>
            <a:r>
              <a:rPr lang="en-US" sz="3158" dirty="0">
                <a:solidFill>
                  <a:srgbClr val="FFFFFF"/>
                </a:solidFill>
                <a:latin typeface="Proxima Nova"/>
                <a:ea typeface="Proxima Nova"/>
                <a:cs typeface="Proxima Nova"/>
                <a:sym typeface="Proxima Nova"/>
              </a:rPr>
              <a:t>• Study Mate AI is an AI learning assistant that helps student study faster and understand topics easily.</a:t>
            </a:r>
          </a:p>
          <a:p>
            <a:pPr algn="just">
              <a:lnSpc>
                <a:spcPts val="4832"/>
              </a:lnSpc>
            </a:pPr>
            <a:r>
              <a:rPr lang="en-US" sz="3158" dirty="0">
                <a:solidFill>
                  <a:srgbClr val="FFFFFF"/>
                </a:solidFill>
                <a:latin typeface="Proxima Nova"/>
                <a:ea typeface="Proxima Nova"/>
                <a:cs typeface="Proxima Nova"/>
                <a:sym typeface="Proxima Nova"/>
              </a:rPr>
              <a:t>• Students can paste notes, upload study material, or ask questions, and the system generates helpful learning tools automatically.</a:t>
            </a:r>
          </a:p>
          <a:p>
            <a:pPr algn="just">
              <a:lnSpc>
                <a:spcPts val="4832"/>
              </a:lnSpc>
            </a:pPr>
            <a:r>
              <a:rPr lang="en-US" sz="3158" dirty="0">
                <a:solidFill>
                  <a:srgbClr val="FFFFFF"/>
                </a:solidFill>
                <a:latin typeface="Proxima Nova"/>
                <a:ea typeface="Proxima Nova"/>
                <a:cs typeface="Proxima Nova"/>
                <a:sym typeface="Proxima Nova"/>
              </a:rPr>
              <a:t>• How AI Helps :</a:t>
            </a:r>
          </a:p>
          <a:p>
            <a:pPr algn="just">
              <a:lnSpc>
                <a:spcPts val="4832"/>
              </a:lnSpc>
            </a:pPr>
            <a:r>
              <a:rPr lang="en-US" sz="3158" dirty="0">
                <a:solidFill>
                  <a:srgbClr val="FFFFFF"/>
                </a:solidFill>
                <a:latin typeface="Proxima Nova"/>
                <a:ea typeface="Proxima Nova"/>
                <a:cs typeface="Proxima Nova"/>
                <a:sym typeface="Proxima Nova"/>
              </a:rPr>
              <a:t> AI reads the content and explains difficult topics in simple words, finds important points, and creates quizzes for practice.</a:t>
            </a:r>
          </a:p>
          <a:p>
            <a:pPr algn="just">
              <a:lnSpc>
                <a:spcPts val="4832"/>
              </a:lnSpc>
            </a:pPr>
            <a:r>
              <a:rPr lang="en-US" sz="3158" b="1" dirty="0">
                <a:solidFill>
                  <a:srgbClr val="FFFFFF"/>
                </a:solidFill>
                <a:latin typeface="Proxima Nova Bold"/>
                <a:ea typeface="Proxima Nova Bold"/>
                <a:cs typeface="Proxima Nova Bold"/>
                <a:sym typeface="Proxima Nova Bold"/>
              </a:rPr>
              <a:t> Why It Is Better :</a:t>
            </a:r>
          </a:p>
          <a:p>
            <a:pPr algn="just">
              <a:lnSpc>
                <a:spcPts val="4832"/>
              </a:lnSpc>
            </a:pPr>
            <a:r>
              <a:rPr lang="en-US" sz="3158" dirty="0">
                <a:solidFill>
                  <a:srgbClr val="FFFFFF"/>
                </a:solidFill>
                <a:latin typeface="Proxima Nova"/>
                <a:ea typeface="Proxima Nova"/>
                <a:cs typeface="Proxima Nova"/>
                <a:sym typeface="Proxima Nova"/>
              </a:rPr>
              <a:t>• Saves study time</a:t>
            </a:r>
          </a:p>
          <a:p>
            <a:pPr algn="just">
              <a:lnSpc>
                <a:spcPts val="4832"/>
              </a:lnSpc>
            </a:pPr>
            <a:r>
              <a:rPr lang="en-US" sz="3158" dirty="0">
                <a:solidFill>
                  <a:srgbClr val="FFFFFF"/>
                </a:solidFill>
                <a:latin typeface="Proxima Nova"/>
                <a:ea typeface="Proxima Nova"/>
                <a:cs typeface="Proxima Nova"/>
                <a:sym typeface="Proxima Nova"/>
              </a:rPr>
              <a:t> • Makes learning easier</a:t>
            </a:r>
          </a:p>
          <a:p>
            <a:pPr algn="just">
              <a:lnSpc>
                <a:spcPts val="4832"/>
              </a:lnSpc>
            </a:pPr>
            <a:r>
              <a:rPr lang="en-US" sz="3158" dirty="0">
                <a:solidFill>
                  <a:srgbClr val="FFFFFF"/>
                </a:solidFill>
                <a:latin typeface="Proxima Nova"/>
                <a:ea typeface="Proxima Nova"/>
                <a:cs typeface="Proxima Nova"/>
                <a:sym typeface="Proxima Nova"/>
              </a:rPr>
              <a:t> • Provides personalized learning support</a:t>
            </a:r>
          </a:p>
          <a:p>
            <a:pPr algn="just">
              <a:lnSpc>
                <a:spcPts val="4832"/>
              </a:lnSpc>
            </a:pPr>
            <a:endParaRPr lang="en-US" sz="3158" dirty="0">
              <a:solidFill>
                <a:srgbClr val="FFFFFF"/>
              </a:solidFill>
              <a:latin typeface="Proxima Nova"/>
              <a:ea typeface="Proxima Nova"/>
              <a:cs typeface="Proxima Nova"/>
              <a:sym typeface="Proxima Nova"/>
            </a:endParaRPr>
          </a:p>
          <a:p>
            <a:pPr algn="just">
              <a:lnSpc>
                <a:spcPts val="4832"/>
              </a:lnSpc>
            </a:pPr>
            <a:endParaRPr lang="en-US" sz="3158" dirty="0">
              <a:solidFill>
                <a:srgbClr val="FFFFFF"/>
              </a:solidFill>
              <a:latin typeface="Proxima Nova"/>
              <a:ea typeface="Proxima Nova"/>
              <a:cs typeface="Proxima Nova"/>
              <a:sym typeface="Proxima Nova"/>
            </a:endParaRPr>
          </a:p>
          <a:p>
            <a:pPr algn="just">
              <a:lnSpc>
                <a:spcPts val="3441"/>
              </a:lnSpc>
              <a:spcBef>
                <a:spcPct val="0"/>
              </a:spcBef>
            </a:pPr>
            <a:endParaRPr lang="en-US" sz="3158" dirty="0">
              <a:solidFill>
                <a:srgbClr val="FFFFFF"/>
              </a:solidFill>
              <a:latin typeface="Proxima Nova"/>
              <a:ea typeface="Proxima Nova"/>
              <a:cs typeface="Proxima Nova"/>
              <a:sym typeface="Proxima Nova"/>
            </a:endParaRPr>
          </a:p>
        </p:txBody>
      </p:sp>
      <p:sp>
        <p:nvSpPr>
          <p:cNvPr id="6" name="TextBox 6"/>
          <p:cNvSpPr txBox="1"/>
          <p:nvPr/>
        </p:nvSpPr>
        <p:spPr>
          <a:xfrm>
            <a:off x="381000" y="1095375"/>
            <a:ext cx="9910920" cy="1133516"/>
          </a:xfrm>
          <a:prstGeom prst="rect">
            <a:avLst/>
          </a:prstGeom>
        </p:spPr>
        <p:txBody>
          <a:bodyPr wrap="square" lIns="0" tIns="0" rIns="0" bIns="0" rtlCol="0" anchor="t">
            <a:spAutoFit/>
          </a:bodyPr>
          <a:lstStyle/>
          <a:p>
            <a:pPr algn="r">
              <a:lnSpc>
                <a:spcPts val="8447"/>
              </a:lnSpc>
            </a:pPr>
            <a:r>
              <a:rPr lang="en-US" sz="7900" b="1" dirty="0">
                <a:solidFill>
                  <a:srgbClr val="FFFFFF"/>
                </a:solidFill>
                <a:latin typeface="Sarpanch"/>
                <a:ea typeface="Sarpanch"/>
                <a:cs typeface="Sarpanch"/>
                <a:sym typeface="Sarpanch"/>
              </a:rPr>
              <a:t>Proposed Solution </a:t>
            </a:r>
            <a:r>
              <a:rPr lang="en-US" sz="8532" b="1" dirty="0">
                <a:solidFill>
                  <a:srgbClr val="FFFFFF"/>
                </a:solidFill>
                <a:latin typeface="Sarpanch"/>
                <a:ea typeface="Sarpanch"/>
                <a:cs typeface="Sarpanch"/>
                <a:sym typeface="Sarpanch"/>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0" y="719907"/>
            <a:ext cx="9849031" cy="1098378"/>
          </a:xfrm>
          <a:prstGeom prst="rect">
            <a:avLst/>
          </a:prstGeom>
        </p:spPr>
        <p:txBody>
          <a:bodyPr lIns="0" tIns="0" rIns="0" bIns="0" rtlCol="0" anchor="t">
            <a:spAutoFit/>
          </a:bodyPr>
          <a:lstStyle/>
          <a:p>
            <a:pPr algn="ctr">
              <a:lnSpc>
                <a:spcPts val="8318"/>
              </a:lnSpc>
              <a:spcBef>
                <a:spcPct val="0"/>
              </a:spcBef>
            </a:pPr>
            <a:r>
              <a:rPr lang="en-US" sz="7800" b="1" dirty="0">
                <a:solidFill>
                  <a:srgbClr val="FFFFFF"/>
                </a:solidFill>
                <a:latin typeface="Sarpanch" panose="020B0604020202020204" charset="0"/>
                <a:ea typeface="TT Octosquares Expanded"/>
                <a:cs typeface="Sarpanch" panose="020B0604020202020204" charset="0"/>
                <a:sym typeface="TT Octosquares Expanded"/>
              </a:rPr>
              <a:t>KEY FEATURES:</a:t>
            </a:r>
          </a:p>
        </p:txBody>
      </p:sp>
      <p:sp>
        <p:nvSpPr>
          <p:cNvPr id="4" name="TextBox 4"/>
          <p:cNvSpPr txBox="1"/>
          <p:nvPr/>
        </p:nvSpPr>
        <p:spPr>
          <a:xfrm>
            <a:off x="1196164" y="1868372"/>
            <a:ext cx="16230600" cy="7698721"/>
          </a:xfrm>
          <a:prstGeom prst="rect">
            <a:avLst/>
          </a:prstGeom>
        </p:spPr>
        <p:txBody>
          <a:bodyPr lIns="0" tIns="0" rIns="0" bIns="0" rtlCol="0" anchor="t">
            <a:spAutoFit/>
          </a:bodyPr>
          <a:lstStyle/>
          <a:p>
            <a:pPr algn="just">
              <a:lnSpc>
                <a:spcPts val="4061"/>
              </a:lnSpc>
            </a:pPr>
            <a:r>
              <a:rPr lang="en-US" sz="2900" b="1">
                <a:solidFill>
                  <a:srgbClr val="FFFFFF"/>
                </a:solidFill>
                <a:latin typeface="Proxima Nova Bold"/>
                <a:ea typeface="Proxima Nova Bold"/>
                <a:cs typeface="Proxima Nova Bold"/>
                <a:sym typeface="Proxima Nova Bold"/>
              </a:rPr>
              <a:t>🔹 AI Concept Explainer</a:t>
            </a:r>
          </a:p>
          <a:p>
            <a:pPr algn="just">
              <a:lnSpc>
                <a:spcPts val="4061"/>
              </a:lnSpc>
              <a:spcBef>
                <a:spcPct val="0"/>
              </a:spcBef>
            </a:pPr>
            <a:r>
              <a:rPr lang="en-US" sz="2900">
                <a:solidFill>
                  <a:srgbClr val="FFFFFF"/>
                </a:solidFill>
                <a:latin typeface="Proxima Nova"/>
                <a:ea typeface="Proxima Nova"/>
                <a:cs typeface="Proxima Nova"/>
                <a:sym typeface="Proxima Nova"/>
              </a:rPr>
              <a:t> Explains difficult topics in simple language so students can easily understand complex concepts.</a:t>
            </a:r>
          </a:p>
          <a:p>
            <a:pPr algn="just">
              <a:lnSpc>
                <a:spcPts val="4061"/>
              </a:lnSpc>
              <a:spcBef>
                <a:spcPct val="0"/>
              </a:spcBef>
            </a:pPr>
            <a:r>
              <a:rPr lang="en-US" sz="2900" b="1">
                <a:solidFill>
                  <a:srgbClr val="FFFFFF"/>
                </a:solidFill>
                <a:latin typeface="Proxima Nova Bold"/>
                <a:ea typeface="Proxima Nova Bold"/>
                <a:cs typeface="Proxima Nova Bold"/>
                <a:sym typeface="Proxima Nova Bold"/>
              </a:rPr>
              <a:t>🔹 Smart Notes Summarizer</a:t>
            </a:r>
          </a:p>
          <a:p>
            <a:pPr algn="just">
              <a:lnSpc>
                <a:spcPts val="4061"/>
              </a:lnSpc>
              <a:spcBef>
                <a:spcPct val="0"/>
              </a:spcBef>
            </a:pPr>
            <a:r>
              <a:rPr lang="en-US" sz="2900">
                <a:solidFill>
                  <a:srgbClr val="FFFFFF"/>
                </a:solidFill>
                <a:latin typeface="Proxima Nova"/>
                <a:ea typeface="Proxima Nova"/>
                <a:cs typeface="Proxima Nova"/>
                <a:sym typeface="Proxima Nova"/>
              </a:rPr>
              <a:t> Automatically converts long notes or textbook content into short and clear summaries for quick revision.</a:t>
            </a:r>
          </a:p>
          <a:p>
            <a:pPr algn="just">
              <a:lnSpc>
                <a:spcPts val="4061"/>
              </a:lnSpc>
              <a:spcBef>
                <a:spcPct val="0"/>
              </a:spcBef>
            </a:pPr>
            <a:r>
              <a:rPr lang="en-US" sz="2900" b="1">
                <a:solidFill>
                  <a:srgbClr val="FFFFFF"/>
                </a:solidFill>
                <a:latin typeface="Proxima Nova Bold"/>
                <a:ea typeface="Proxima Nova Bold"/>
                <a:cs typeface="Proxima Nova Bold"/>
                <a:sym typeface="Proxima Nova Bold"/>
              </a:rPr>
              <a:t>🔹 Auto Quiz Generator</a:t>
            </a:r>
          </a:p>
          <a:p>
            <a:pPr algn="just">
              <a:lnSpc>
                <a:spcPts val="4061"/>
              </a:lnSpc>
              <a:spcBef>
                <a:spcPct val="0"/>
              </a:spcBef>
            </a:pPr>
            <a:r>
              <a:rPr lang="en-US" sz="2900">
                <a:solidFill>
                  <a:srgbClr val="FFFFFF"/>
                </a:solidFill>
                <a:latin typeface="Proxima Nova"/>
                <a:ea typeface="Proxima Nova"/>
                <a:cs typeface="Proxima Nova"/>
                <a:sym typeface="Proxima Nova"/>
              </a:rPr>
              <a:t> Creates practice questions and quizzes from the study material to help students test their knowledge.</a:t>
            </a:r>
          </a:p>
          <a:p>
            <a:pPr algn="just">
              <a:lnSpc>
                <a:spcPts val="4061"/>
              </a:lnSpc>
              <a:spcBef>
                <a:spcPct val="0"/>
              </a:spcBef>
            </a:pPr>
            <a:r>
              <a:rPr lang="en-US" sz="2900" b="1">
                <a:solidFill>
                  <a:srgbClr val="FFFFFF"/>
                </a:solidFill>
                <a:latin typeface="Proxima Nova Bold"/>
                <a:ea typeface="Proxima Nova Bold"/>
                <a:cs typeface="Proxima Nova Bold"/>
                <a:sym typeface="Proxima Nova Bold"/>
              </a:rPr>
              <a:t>🔹 Flashcard Generator</a:t>
            </a:r>
          </a:p>
          <a:p>
            <a:pPr algn="just">
              <a:lnSpc>
                <a:spcPts val="4061"/>
              </a:lnSpc>
              <a:spcBef>
                <a:spcPct val="0"/>
              </a:spcBef>
            </a:pPr>
            <a:r>
              <a:rPr lang="en-US" sz="2900">
                <a:solidFill>
                  <a:srgbClr val="FFFFFF"/>
                </a:solidFill>
                <a:latin typeface="Proxima Nova"/>
                <a:ea typeface="Proxima Nova"/>
                <a:cs typeface="Proxima Nova"/>
                <a:sym typeface="Proxima Nova"/>
              </a:rPr>
              <a:t> Generates flashcards with important questions and answers to make revision faster and more effective.</a:t>
            </a:r>
          </a:p>
          <a:p>
            <a:pPr algn="just">
              <a:lnSpc>
                <a:spcPts val="4061"/>
              </a:lnSpc>
              <a:spcBef>
                <a:spcPct val="0"/>
              </a:spcBef>
            </a:pPr>
            <a:r>
              <a:rPr lang="en-US" sz="2900" b="1">
                <a:solidFill>
                  <a:srgbClr val="FFFFFF"/>
                </a:solidFill>
                <a:latin typeface="Proxima Nova Bold"/>
                <a:ea typeface="Proxima Nova Bold"/>
                <a:cs typeface="Proxima Nova Bold"/>
                <a:sym typeface="Proxima Nova Bold"/>
              </a:rPr>
              <a:t>🔹 Personalized Learning Mode</a:t>
            </a:r>
          </a:p>
          <a:p>
            <a:pPr algn="just">
              <a:lnSpc>
                <a:spcPts val="4061"/>
              </a:lnSpc>
              <a:spcBef>
                <a:spcPct val="0"/>
              </a:spcBef>
            </a:pPr>
            <a:r>
              <a:rPr lang="en-US" sz="2900">
                <a:solidFill>
                  <a:srgbClr val="FFFFFF"/>
                </a:solidFill>
                <a:latin typeface="Proxima Nova"/>
                <a:ea typeface="Proxima Nova"/>
                <a:cs typeface="Proxima Nova"/>
                <a:sym typeface="Proxima Nova"/>
              </a:rPr>
              <a:t> Adapts explanations based on the student’s level (Beginner, Intermediate, Advanced) for better learning.</a:t>
            </a:r>
          </a:p>
          <a:p>
            <a:pPr algn="just">
              <a:lnSpc>
                <a:spcPts val="4061"/>
              </a:lnSpc>
              <a:spcBef>
                <a:spcPct val="0"/>
              </a:spcBef>
            </a:pPr>
            <a:endParaRPr lang="en-US" sz="2900">
              <a:solidFill>
                <a:srgbClr val="FFFFFF"/>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444" r="-3444"/>
            </a:stretch>
          </a:blipFill>
        </p:spPr>
        <p:txBody>
          <a:bodyPr/>
          <a:lstStyle/>
          <a:p>
            <a:endParaRPr lang="en-IN" dirty="0"/>
          </a:p>
        </p:txBody>
      </p:sp>
      <p:sp>
        <p:nvSpPr>
          <p:cNvPr id="3" name="Freeform 3"/>
          <p:cNvSpPr/>
          <p:nvPr/>
        </p:nvSpPr>
        <p:spPr>
          <a:xfrm>
            <a:off x="12719957" y="500470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alphaModFix amt="40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09600" y="1333500"/>
            <a:ext cx="14948483" cy="915635"/>
          </a:xfrm>
          <a:prstGeom prst="rect">
            <a:avLst/>
          </a:prstGeom>
        </p:spPr>
        <p:txBody>
          <a:bodyPr lIns="0" tIns="0" rIns="0" bIns="0" rtlCol="0" anchor="t">
            <a:spAutoFit/>
          </a:bodyPr>
          <a:lstStyle/>
          <a:p>
            <a:pPr algn="l">
              <a:lnSpc>
                <a:spcPts val="6579"/>
              </a:lnSpc>
            </a:pPr>
            <a:r>
              <a:rPr lang="en-US" sz="7300" b="1" dirty="0">
                <a:solidFill>
                  <a:srgbClr val="FFFFFF"/>
                </a:solidFill>
                <a:latin typeface="Sarpanch"/>
                <a:ea typeface="Sarpanch"/>
                <a:cs typeface="Sarpanch"/>
                <a:sym typeface="Sarpanch"/>
              </a:rPr>
              <a:t>TECHNICAL DETAILS – STUDY AI :</a:t>
            </a:r>
          </a:p>
        </p:txBody>
      </p:sp>
      <p:sp>
        <p:nvSpPr>
          <p:cNvPr id="5" name="TextBox 5"/>
          <p:cNvSpPr txBox="1"/>
          <p:nvPr/>
        </p:nvSpPr>
        <p:spPr>
          <a:xfrm>
            <a:off x="1028700" y="2670105"/>
            <a:ext cx="16333970" cy="6538072"/>
          </a:xfrm>
          <a:prstGeom prst="rect">
            <a:avLst/>
          </a:prstGeom>
        </p:spPr>
        <p:txBody>
          <a:bodyPr lIns="0" tIns="0" rIns="0" bIns="0" rtlCol="0" anchor="t">
            <a:spAutoFit/>
          </a:bodyPr>
          <a:lstStyle/>
          <a:p>
            <a:pPr algn="just">
              <a:lnSpc>
                <a:spcPts val="4286"/>
              </a:lnSpc>
            </a:pPr>
            <a:r>
              <a:rPr lang="en-US" sz="3061" dirty="0">
                <a:solidFill>
                  <a:srgbClr val="FFFFFF"/>
                </a:solidFill>
                <a:latin typeface="Proxima Nova"/>
                <a:ea typeface="Proxima Nova"/>
                <a:cs typeface="Proxima Nova"/>
                <a:sym typeface="Proxima Nova"/>
              </a:rPr>
              <a:t>• Study Mate AI is a web-based Generative AI learning platform that transforms raw study materials into personalized educational content.</a:t>
            </a:r>
          </a:p>
          <a:p>
            <a:pPr algn="just">
              <a:lnSpc>
                <a:spcPts val="4286"/>
              </a:lnSpc>
            </a:pPr>
            <a:r>
              <a:rPr lang="en-US" sz="3061" dirty="0">
                <a:solidFill>
                  <a:srgbClr val="FFFFFF"/>
                </a:solidFill>
                <a:latin typeface="Proxima Nova"/>
                <a:ea typeface="Proxima Nova"/>
                <a:cs typeface="Proxima Nova"/>
                <a:sym typeface="Proxima Nova"/>
              </a:rPr>
              <a:t>• </a:t>
            </a:r>
            <a:r>
              <a:rPr lang="en-US" sz="3061" b="1" dirty="0">
                <a:solidFill>
                  <a:srgbClr val="FFFFFF"/>
                </a:solidFill>
                <a:latin typeface="Proxima Nova Bold"/>
                <a:ea typeface="Proxima Nova Bold"/>
                <a:cs typeface="Proxima Nova Bold"/>
                <a:sym typeface="Proxima Nova Bold"/>
              </a:rPr>
              <a:t>Frontend</a:t>
            </a:r>
            <a:r>
              <a:rPr lang="en-US" sz="3061" dirty="0">
                <a:solidFill>
                  <a:srgbClr val="FFFFFF"/>
                </a:solidFill>
                <a:latin typeface="Proxima Nova"/>
                <a:ea typeface="Proxima Nova"/>
                <a:cs typeface="Proxima Nova"/>
                <a:sym typeface="Proxima Nova"/>
              </a:rPr>
              <a:t>: Built using HTML, CSS, and JavaScript, delivering an intuitive interface where students can upload notes, ask questions, or paste code and select their learning level (Beginner / Intermediate / Advanced).</a:t>
            </a:r>
          </a:p>
          <a:p>
            <a:pPr algn="just">
              <a:lnSpc>
                <a:spcPts val="4286"/>
              </a:lnSpc>
            </a:pPr>
            <a:r>
              <a:rPr lang="en-US" sz="3061" dirty="0">
                <a:solidFill>
                  <a:srgbClr val="FFFFFF"/>
                </a:solidFill>
                <a:latin typeface="Proxima Nova"/>
                <a:ea typeface="Proxima Nova"/>
                <a:cs typeface="Proxima Nova"/>
                <a:sym typeface="Proxima Nova"/>
              </a:rPr>
              <a:t>• </a:t>
            </a:r>
            <a:r>
              <a:rPr lang="en-US" sz="3061" b="1" dirty="0">
                <a:solidFill>
                  <a:srgbClr val="FFFFFF"/>
                </a:solidFill>
                <a:latin typeface="Proxima Nova Bold"/>
                <a:ea typeface="Proxima Nova Bold"/>
                <a:cs typeface="Proxima Nova Bold"/>
                <a:sym typeface="Proxima Nova Bold"/>
              </a:rPr>
              <a:t>Backend</a:t>
            </a:r>
            <a:r>
              <a:rPr lang="en-US" sz="3061" dirty="0">
                <a:solidFill>
                  <a:srgbClr val="FFFFFF"/>
                </a:solidFill>
                <a:latin typeface="Proxima Nova"/>
                <a:ea typeface="Proxima Nova"/>
                <a:cs typeface="Proxima Nova"/>
                <a:sym typeface="Proxima Nova"/>
              </a:rPr>
              <a:t>: Developed with Python + Flask, handling request processing, prompt engineering, and seamless communication with AI APIs.</a:t>
            </a:r>
          </a:p>
          <a:p>
            <a:pPr algn="just">
              <a:lnSpc>
                <a:spcPts val="4286"/>
              </a:lnSpc>
            </a:pPr>
            <a:r>
              <a:rPr lang="en-US" sz="3061" dirty="0">
                <a:solidFill>
                  <a:srgbClr val="FFFFFF"/>
                </a:solidFill>
                <a:latin typeface="Proxima Nova"/>
                <a:ea typeface="Proxima Nova"/>
                <a:cs typeface="Proxima Nova"/>
                <a:sym typeface="Proxima Nova"/>
              </a:rPr>
              <a:t>• </a:t>
            </a:r>
            <a:r>
              <a:rPr lang="en-US" sz="3061" b="1" dirty="0">
                <a:solidFill>
                  <a:srgbClr val="FFFFFF"/>
                </a:solidFill>
                <a:latin typeface="Proxima Nova Bold"/>
                <a:ea typeface="Proxima Nova Bold"/>
                <a:cs typeface="Proxima Nova Bold"/>
                <a:sym typeface="Proxima Nova Bold"/>
              </a:rPr>
              <a:t>AI Engine</a:t>
            </a:r>
            <a:r>
              <a:rPr lang="en-US" sz="3061" dirty="0">
                <a:solidFill>
                  <a:srgbClr val="FFFFFF"/>
                </a:solidFill>
                <a:latin typeface="Proxima Nova"/>
                <a:ea typeface="Proxima Nova"/>
                <a:cs typeface="Proxima Nova"/>
                <a:sym typeface="Proxima Nova"/>
              </a:rPr>
              <a:t>: Integrates Generative AI models (OpenAI / Google Gemini) to dynamically generate</a:t>
            </a:r>
          </a:p>
          <a:p>
            <a:pPr algn="just">
              <a:lnSpc>
                <a:spcPts val="4286"/>
              </a:lnSpc>
            </a:pPr>
            <a:r>
              <a:rPr lang="en-US" sz="3061" dirty="0">
                <a:solidFill>
                  <a:srgbClr val="FFFFFF"/>
                </a:solidFill>
                <a:latin typeface="Proxima Nova"/>
                <a:ea typeface="Proxima Nova"/>
                <a:cs typeface="Proxima Nova"/>
                <a:sym typeface="Proxima Nova"/>
              </a:rPr>
              <a:t>simplified explanations, summaries, quizzes, and flashcards in real time.</a:t>
            </a:r>
          </a:p>
          <a:p>
            <a:pPr algn="just">
              <a:lnSpc>
                <a:spcPts val="4286"/>
              </a:lnSpc>
              <a:spcBef>
                <a:spcPct val="0"/>
              </a:spcBef>
            </a:pPr>
            <a:r>
              <a:rPr lang="en-US" sz="3061" dirty="0">
                <a:solidFill>
                  <a:srgbClr val="FFFFFF"/>
                </a:solidFill>
                <a:latin typeface="Proxima Nova"/>
                <a:ea typeface="Proxima Nova"/>
                <a:cs typeface="Proxima Nova"/>
                <a:sym typeface="Proxima Nova"/>
              </a:rPr>
              <a:t>• </a:t>
            </a:r>
            <a:r>
              <a:rPr lang="en-US" sz="3061" b="1" dirty="0">
                <a:solidFill>
                  <a:srgbClr val="FFFFFF"/>
                </a:solidFill>
                <a:latin typeface="Proxima Nova Bold"/>
                <a:ea typeface="Proxima Nova Bold"/>
                <a:cs typeface="Proxima Nova Bold"/>
                <a:sym typeface="Proxima Nova Bold"/>
              </a:rPr>
              <a:t>Data Layer</a:t>
            </a:r>
            <a:r>
              <a:rPr lang="en-US" sz="3061" dirty="0">
                <a:solidFill>
                  <a:srgbClr val="FFFFFF"/>
                </a:solidFill>
                <a:latin typeface="Proxima Nova"/>
                <a:ea typeface="Proxima Nova"/>
                <a:cs typeface="Proxima Nova"/>
                <a:sym typeface="Proxima Nova"/>
              </a:rPr>
              <a:t>: A SQLite database stores user inputs, generated responses, and learning history to enable personalized and adaptive learning experiences.</a:t>
            </a:r>
          </a:p>
          <a:p>
            <a:pPr algn="just">
              <a:lnSpc>
                <a:spcPts val="4006"/>
              </a:lnSpc>
              <a:spcBef>
                <a:spcPct val="0"/>
              </a:spcBef>
            </a:pPr>
            <a:endParaRPr lang="en-US" sz="3061" dirty="0">
              <a:solidFill>
                <a:srgbClr val="FFFFFF"/>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1637323" y="-816429"/>
            <a:ext cx="5968959" cy="5665085"/>
          </a:xfrm>
          <a:custGeom>
            <a:avLst/>
            <a:gdLst/>
            <a:ahLst/>
            <a:cxnLst/>
            <a:rect l="l" t="t" r="r" b="b"/>
            <a:pathLst>
              <a:path w="5968959" h="5665085">
                <a:moveTo>
                  <a:pt x="0" y="0"/>
                </a:moveTo>
                <a:lnTo>
                  <a:pt x="5968959" y="0"/>
                </a:lnTo>
                <a:lnTo>
                  <a:pt x="5968959" y="5665086"/>
                </a:lnTo>
                <a:lnTo>
                  <a:pt x="0" y="5665086"/>
                </a:lnTo>
                <a:lnTo>
                  <a:pt x="0" y="0"/>
                </a:lnTo>
                <a:close/>
              </a:path>
            </a:pathLst>
          </a:custGeom>
          <a:blipFill>
            <a:blip r:embed="rId3">
              <a:alphaModFix amt="56000"/>
              <a:extLst>
                <a:ext uri="{96DAC541-7B7A-43D3-8B79-37D633B846F1}">
                  <asvg:svgBlip xmlns:asvg="http://schemas.microsoft.com/office/drawing/2016/SVG/main" r:embed="rId4"/>
                </a:ext>
              </a:extLst>
            </a:blip>
            <a:stretch>
              <a:fillRect/>
            </a:stretch>
          </a:blipFill>
        </p:spPr>
      </p:sp>
      <p:sp>
        <p:nvSpPr>
          <p:cNvPr id="4" name="Freeform 4"/>
          <p:cNvSpPr/>
          <p:nvPr/>
        </p:nvSpPr>
        <p:spPr>
          <a:xfrm rot="-6501988">
            <a:off x="-1937446" y="6816377"/>
            <a:ext cx="5968959" cy="5665085"/>
          </a:xfrm>
          <a:custGeom>
            <a:avLst/>
            <a:gdLst/>
            <a:ahLst/>
            <a:cxnLst/>
            <a:rect l="l" t="t" r="r" b="b"/>
            <a:pathLst>
              <a:path w="5968959" h="5665085">
                <a:moveTo>
                  <a:pt x="0" y="0"/>
                </a:moveTo>
                <a:lnTo>
                  <a:pt x="5968959" y="0"/>
                </a:lnTo>
                <a:lnTo>
                  <a:pt x="5968959" y="5665085"/>
                </a:lnTo>
                <a:lnTo>
                  <a:pt x="0" y="5665085"/>
                </a:lnTo>
                <a:lnTo>
                  <a:pt x="0" y="0"/>
                </a:lnTo>
                <a:close/>
              </a:path>
            </a:pathLst>
          </a:custGeom>
          <a:blipFill>
            <a:blip r:embed="rId3">
              <a:alphaModFix amt="43000"/>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76621" y="1171575"/>
            <a:ext cx="11713944" cy="952184"/>
          </a:xfrm>
          <a:prstGeom prst="rect">
            <a:avLst/>
          </a:prstGeom>
        </p:spPr>
        <p:txBody>
          <a:bodyPr lIns="0" tIns="0" rIns="0" bIns="0" rtlCol="0" anchor="t">
            <a:spAutoFit/>
          </a:bodyPr>
          <a:lstStyle/>
          <a:p>
            <a:pPr algn="r">
              <a:lnSpc>
                <a:spcPts val="6855"/>
              </a:lnSpc>
            </a:pPr>
            <a:r>
              <a:rPr lang="en-US" sz="6924" dirty="0">
                <a:solidFill>
                  <a:srgbClr val="FFFFFF"/>
                </a:solidFill>
                <a:latin typeface="Sarpanch"/>
                <a:ea typeface="Sarpanch"/>
                <a:cs typeface="Sarpanch"/>
                <a:sym typeface="Sarpanch"/>
              </a:rPr>
              <a:t>🤖 </a:t>
            </a:r>
            <a:r>
              <a:rPr lang="en-US" sz="7500" b="1" dirty="0">
                <a:solidFill>
                  <a:srgbClr val="FFFFFF"/>
                </a:solidFill>
                <a:latin typeface="Sarpanch"/>
                <a:ea typeface="Sarpanch"/>
                <a:cs typeface="Sarpanch"/>
                <a:sym typeface="Sarpanch"/>
              </a:rPr>
              <a:t>AI Model Integration </a:t>
            </a:r>
            <a:r>
              <a:rPr lang="en-US" sz="6924" b="1" dirty="0">
                <a:solidFill>
                  <a:srgbClr val="FFFFFF"/>
                </a:solidFill>
                <a:latin typeface="Sarpanch"/>
                <a:ea typeface="Sarpanch"/>
                <a:cs typeface="Sarpanch"/>
                <a:sym typeface="Sarpanch"/>
              </a:rPr>
              <a:t>:</a:t>
            </a:r>
          </a:p>
        </p:txBody>
      </p:sp>
      <p:sp>
        <p:nvSpPr>
          <p:cNvPr id="6" name="TextBox 6"/>
          <p:cNvSpPr txBox="1"/>
          <p:nvPr/>
        </p:nvSpPr>
        <p:spPr>
          <a:xfrm>
            <a:off x="838200" y="2536761"/>
            <a:ext cx="16373351" cy="2570226"/>
          </a:xfrm>
          <a:prstGeom prst="rect">
            <a:avLst/>
          </a:prstGeom>
        </p:spPr>
        <p:txBody>
          <a:bodyPr lIns="0" tIns="0" rIns="0" bIns="0" rtlCol="0" anchor="t">
            <a:spAutoFit/>
          </a:bodyPr>
          <a:lstStyle/>
          <a:p>
            <a:pPr algn="just">
              <a:lnSpc>
                <a:spcPts val="3925"/>
              </a:lnSpc>
            </a:pPr>
            <a:r>
              <a:rPr lang="en-US" sz="2599" spc="38" dirty="0">
                <a:solidFill>
                  <a:srgbClr val="FFFFFF"/>
                </a:solidFill>
                <a:latin typeface="Proxima Nova"/>
                <a:ea typeface="Proxima Nova"/>
                <a:cs typeface="Proxima Nova"/>
                <a:sym typeface="Proxima Nova"/>
              </a:rPr>
              <a:t>■ Study Mate AI integrates Generative AI models through APIs such as OpenAI GPT models or Google’s Gemini AI to process and generate educational content.</a:t>
            </a:r>
          </a:p>
          <a:p>
            <a:pPr algn="just">
              <a:lnSpc>
                <a:spcPts val="4227"/>
              </a:lnSpc>
            </a:pPr>
            <a:r>
              <a:rPr lang="en-US" sz="2799" spc="41" dirty="0">
                <a:solidFill>
                  <a:srgbClr val="FFFFFF"/>
                </a:solidFill>
                <a:latin typeface="Proxima Nova"/>
                <a:ea typeface="Proxima Nova"/>
                <a:cs typeface="Proxima Nova"/>
                <a:sym typeface="Proxima Nova"/>
              </a:rPr>
              <a:t>■ The Flask backend sends user input (notes, questions, or code) to the AI model using an API request. The AI model analyzes the content using Natural Language Processing (NLP) and generates structured outputs such as simplified explanations, summaries, quizzes, and flashcards.</a:t>
            </a:r>
          </a:p>
        </p:txBody>
      </p:sp>
      <p:graphicFrame>
        <p:nvGraphicFramePr>
          <p:cNvPr id="7" name="Table 6">
            <a:extLst>
              <a:ext uri="{FF2B5EF4-FFF2-40B4-BE49-F238E27FC236}">
                <a16:creationId xmlns:a16="http://schemas.microsoft.com/office/drawing/2014/main" id="{D0C68290-C4A1-67B1-8677-9DFE233FB6D3}"/>
              </a:ext>
            </a:extLst>
          </p:cNvPr>
          <p:cNvGraphicFramePr>
            <a:graphicFrameLocks noGrp="1"/>
          </p:cNvGraphicFramePr>
          <p:nvPr>
            <p:extLst>
              <p:ext uri="{D42A27DB-BD31-4B8C-83A1-F6EECF244321}">
                <p14:modId xmlns:p14="http://schemas.microsoft.com/office/powerpoint/2010/main" val="3551173836"/>
              </p:ext>
            </p:extLst>
          </p:nvPr>
        </p:nvGraphicFramePr>
        <p:xfrm>
          <a:off x="4102969" y="5519989"/>
          <a:ext cx="10832230" cy="3678239"/>
        </p:xfrm>
        <a:graphic>
          <a:graphicData uri="http://schemas.openxmlformats.org/drawingml/2006/table">
            <a:tbl>
              <a:tblPr>
                <a:tableStyleId>{775DCB02-9BB8-47FD-8907-85C794F793BA}</a:tableStyleId>
              </a:tblPr>
              <a:tblGrid>
                <a:gridCol w="3491284">
                  <a:extLst>
                    <a:ext uri="{9D8B030D-6E8A-4147-A177-3AD203B41FA5}">
                      <a16:colId xmlns:a16="http://schemas.microsoft.com/office/drawing/2014/main" val="2804856508"/>
                    </a:ext>
                  </a:extLst>
                </a:gridCol>
                <a:gridCol w="2446982">
                  <a:extLst>
                    <a:ext uri="{9D8B030D-6E8A-4147-A177-3AD203B41FA5}">
                      <a16:colId xmlns:a16="http://schemas.microsoft.com/office/drawing/2014/main" val="673000420"/>
                    </a:ext>
                  </a:extLst>
                </a:gridCol>
                <a:gridCol w="2446982">
                  <a:extLst>
                    <a:ext uri="{9D8B030D-6E8A-4147-A177-3AD203B41FA5}">
                      <a16:colId xmlns:a16="http://schemas.microsoft.com/office/drawing/2014/main" val="3640914353"/>
                    </a:ext>
                  </a:extLst>
                </a:gridCol>
                <a:gridCol w="2446982">
                  <a:extLst>
                    <a:ext uri="{9D8B030D-6E8A-4147-A177-3AD203B41FA5}">
                      <a16:colId xmlns:a16="http://schemas.microsoft.com/office/drawing/2014/main" val="572787870"/>
                    </a:ext>
                  </a:extLst>
                </a:gridCol>
              </a:tblGrid>
              <a:tr h="397647">
                <a:tc>
                  <a:txBody>
                    <a:bodyPr/>
                    <a:lstStyle/>
                    <a:p>
                      <a:pPr algn="ctr">
                        <a:buNone/>
                      </a:pPr>
                      <a:r>
                        <a:rPr lang="en-IN" b="1" dirty="0"/>
                        <a:t>AI Model</a:t>
                      </a:r>
                    </a:p>
                  </a:txBody>
                  <a:tcPr anchor="ctr"/>
                </a:tc>
                <a:tc>
                  <a:txBody>
                    <a:bodyPr/>
                    <a:lstStyle/>
                    <a:p>
                      <a:pPr algn="ctr">
                        <a:buNone/>
                      </a:pPr>
                      <a:r>
                        <a:rPr lang="en-IN" b="1" dirty="0"/>
                        <a:t>Provider</a:t>
                      </a:r>
                    </a:p>
                  </a:txBody>
                  <a:tcPr anchor="ctr"/>
                </a:tc>
                <a:tc>
                  <a:txBody>
                    <a:bodyPr/>
                    <a:lstStyle/>
                    <a:p>
                      <a:pPr algn="ctr">
                        <a:buNone/>
                      </a:pPr>
                      <a:r>
                        <a:rPr lang="en-IN" b="1" dirty="0"/>
                        <a:t>Integration Method</a:t>
                      </a:r>
                    </a:p>
                  </a:txBody>
                  <a:tcPr anchor="ctr"/>
                </a:tc>
                <a:tc>
                  <a:txBody>
                    <a:bodyPr/>
                    <a:lstStyle/>
                    <a:p>
                      <a:pPr algn="ctr">
                        <a:buNone/>
                      </a:pPr>
                      <a:r>
                        <a:rPr lang="en-IN" b="1" dirty="0"/>
                        <a:t>Role in the Project</a:t>
                      </a:r>
                    </a:p>
                  </a:txBody>
                  <a:tcPr anchor="ctr"/>
                </a:tc>
                <a:extLst>
                  <a:ext uri="{0D108BD9-81ED-4DB2-BD59-A6C34878D82A}">
                    <a16:rowId xmlns:a16="http://schemas.microsoft.com/office/drawing/2014/main" val="3321991765"/>
                  </a:ext>
                </a:extLst>
              </a:tr>
              <a:tr h="994119">
                <a:tc>
                  <a:txBody>
                    <a:bodyPr/>
                    <a:lstStyle/>
                    <a:p>
                      <a:pPr algn="ctr">
                        <a:buNone/>
                      </a:pPr>
                      <a:r>
                        <a:rPr lang="en-IN" sz="1800" dirty="0"/>
                        <a:t>OpenAI GPT</a:t>
                      </a:r>
                    </a:p>
                  </a:txBody>
                  <a:tcPr anchor="ctr"/>
                </a:tc>
                <a:tc>
                  <a:txBody>
                    <a:bodyPr/>
                    <a:lstStyle/>
                    <a:p>
                      <a:pPr algn="ctr">
                        <a:buNone/>
                      </a:pPr>
                      <a:r>
                        <a:rPr lang="en-IN" sz="1800" dirty="0"/>
                        <a:t>OpenAI</a:t>
                      </a:r>
                    </a:p>
                  </a:txBody>
                  <a:tcPr anchor="ctr"/>
                </a:tc>
                <a:tc>
                  <a:txBody>
                    <a:bodyPr/>
                    <a:lstStyle/>
                    <a:p>
                      <a:pPr algn="ctr">
                        <a:buNone/>
                      </a:pPr>
                      <a:r>
                        <a:rPr lang="en-US" sz="1800" dirty="0"/>
                        <a:t>API Integration through Flask backend</a:t>
                      </a:r>
                    </a:p>
                  </a:txBody>
                  <a:tcPr anchor="ctr"/>
                </a:tc>
                <a:tc>
                  <a:txBody>
                    <a:bodyPr/>
                    <a:lstStyle/>
                    <a:p>
                      <a:pPr algn="ctr">
                        <a:buNone/>
                      </a:pPr>
                      <a:r>
                        <a:rPr lang="en-US" sz="1800" dirty="0"/>
                        <a:t>Generates explanations, summaries, quizzes, and flashcards</a:t>
                      </a:r>
                    </a:p>
                  </a:txBody>
                  <a:tcPr anchor="ctr"/>
                </a:tc>
                <a:extLst>
                  <a:ext uri="{0D108BD9-81ED-4DB2-BD59-A6C34878D82A}">
                    <a16:rowId xmlns:a16="http://schemas.microsoft.com/office/drawing/2014/main" val="3592634113"/>
                  </a:ext>
                </a:extLst>
              </a:tr>
              <a:tr h="1292354">
                <a:tc>
                  <a:txBody>
                    <a:bodyPr/>
                    <a:lstStyle/>
                    <a:p>
                      <a:pPr algn="ctr">
                        <a:buNone/>
                      </a:pPr>
                      <a:r>
                        <a:rPr lang="en-IN" sz="1800" dirty="0"/>
                        <a:t>Google Gemini</a:t>
                      </a:r>
                    </a:p>
                  </a:txBody>
                  <a:tcPr anchor="ctr"/>
                </a:tc>
                <a:tc>
                  <a:txBody>
                    <a:bodyPr/>
                    <a:lstStyle/>
                    <a:p>
                      <a:pPr algn="ctr">
                        <a:buNone/>
                      </a:pPr>
                      <a:r>
                        <a:rPr lang="en-IN" sz="1800" dirty="0"/>
                        <a:t>Google</a:t>
                      </a:r>
                    </a:p>
                  </a:txBody>
                  <a:tcPr anchor="ctr"/>
                </a:tc>
                <a:tc>
                  <a:txBody>
                    <a:bodyPr/>
                    <a:lstStyle/>
                    <a:p>
                      <a:pPr algn="ctr">
                        <a:buNone/>
                      </a:pPr>
                      <a:r>
                        <a:rPr lang="en-US" sz="1800" dirty="0"/>
                        <a:t>API Integration through Python backend</a:t>
                      </a:r>
                    </a:p>
                  </a:txBody>
                  <a:tcPr anchor="ctr"/>
                </a:tc>
                <a:tc>
                  <a:txBody>
                    <a:bodyPr/>
                    <a:lstStyle/>
                    <a:p>
                      <a:pPr algn="ctr">
                        <a:buNone/>
                      </a:pPr>
                      <a:r>
                        <a:rPr lang="en-US" sz="1800"/>
                        <a:t>Analyzes study material and provides personalized learning content</a:t>
                      </a:r>
                    </a:p>
                  </a:txBody>
                  <a:tcPr anchor="ctr"/>
                </a:tc>
                <a:extLst>
                  <a:ext uri="{0D108BD9-81ED-4DB2-BD59-A6C34878D82A}">
                    <a16:rowId xmlns:a16="http://schemas.microsoft.com/office/drawing/2014/main" val="3089093070"/>
                  </a:ext>
                </a:extLst>
              </a:tr>
              <a:tr h="994119">
                <a:tc>
                  <a:txBody>
                    <a:bodyPr/>
                    <a:lstStyle/>
                    <a:p>
                      <a:pPr algn="ctr">
                        <a:buNone/>
                      </a:pPr>
                      <a:r>
                        <a:rPr lang="en-IN" sz="1800" dirty="0"/>
                        <a:t>Natural Language Processing (NLP)</a:t>
                      </a:r>
                    </a:p>
                  </a:txBody>
                  <a:tcPr anchor="ctr"/>
                </a:tc>
                <a:tc>
                  <a:txBody>
                    <a:bodyPr/>
                    <a:lstStyle/>
                    <a:p>
                      <a:pPr algn="ctr">
                        <a:buNone/>
                      </a:pPr>
                      <a:r>
                        <a:rPr lang="en-IN" sz="1800"/>
                        <a:t>AI Technique</a:t>
                      </a:r>
                    </a:p>
                  </a:txBody>
                  <a:tcPr anchor="ctr"/>
                </a:tc>
                <a:tc>
                  <a:txBody>
                    <a:bodyPr/>
                    <a:lstStyle/>
                    <a:p>
                      <a:pPr algn="ctr">
                        <a:buNone/>
                      </a:pPr>
                      <a:r>
                        <a:rPr lang="en-IN" sz="1800" dirty="0"/>
                        <a:t>Built into AI models</a:t>
                      </a:r>
                    </a:p>
                  </a:txBody>
                  <a:tcPr anchor="ctr"/>
                </a:tc>
                <a:tc>
                  <a:txBody>
                    <a:bodyPr/>
                    <a:lstStyle/>
                    <a:p>
                      <a:pPr algn="ctr">
                        <a:buNone/>
                      </a:pPr>
                      <a:r>
                        <a:rPr lang="en-US" sz="1800" dirty="0"/>
                        <a:t>Understands text and extracts key concepts from study material</a:t>
                      </a:r>
                    </a:p>
                  </a:txBody>
                  <a:tcPr anchor="ctr"/>
                </a:tc>
                <a:extLst>
                  <a:ext uri="{0D108BD9-81ED-4DB2-BD59-A6C34878D82A}">
                    <a16:rowId xmlns:a16="http://schemas.microsoft.com/office/drawing/2014/main" val="23082692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IN" dirty="0"/>
          </a:p>
        </p:txBody>
      </p:sp>
      <p:sp>
        <p:nvSpPr>
          <p:cNvPr id="3" name="Freeform 3"/>
          <p:cNvSpPr/>
          <p:nvPr/>
        </p:nvSpPr>
        <p:spPr>
          <a:xfrm>
            <a:off x="-1043773" y="6780439"/>
            <a:ext cx="4144945" cy="4114800"/>
          </a:xfrm>
          <a:custGeom>
            <a:avLst/>
            <a:gdLst/>
            <a:ahLst/>
            <a:cxnLst/>
            <a:rect l="l" t="t" r="r" b="b"/>
            <a:pathLst>
              <a:path w="4144945" h="4114800">
                <a:moveTo>
                  <a:pt x="0" y="0"/>
                </a:moveTo>
                <a:lnTo>
                  <a:pt x="4144946" y="0"/>
                </a:lnTo>
                <a:lnTo>
                  <a:pt x="4144946" y="4114800"/>
                </a:lnTo>
                <a:lnTo>
                  <a:pt x="0" y="4114800"/>
                </a:lnTo>
                <a:lnTo>
                  <a:pt x="0" y="0"/>
                </a:lnTo>
                <a:close/>
              </a:path>
            </a:pathLst>
          </a:custGeom>
          <a:blipFill>
            <a:blip r:embed="rId3">
              <a:alphaModFix amt="32999"/>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215142" y="-2948116"/>
            <a:ext cx="6005421" cy="5896232"/>
            <a:chOff x="0" y="0"/>
            <a:chExt cx="8007228" cy="7861642"/>
          </a:xfrm>
        </p:grpSpPr>
        <p:sp>
          <p:nvSpPr>
            <p:cNvPr id="5" name="Freeform 5"/>
            <p:cNvSpPr/>
            <p:nvPr/>
          </p:nvSpPr>
          <p:spPr>
            <a:xfrm>
              <a:off x="1665983" y="1187621"/>
              <a:ext cx="5486400" cy="5486400"/>
            </a:xfrm>
            <a:custGeom>
              <a:avLst/>
              <a:gdLst/>
              <a:ahLst/>
              <a:cxnLst/>
              <a:rect l="l" t="t" r="r" b="b"/>
              <a:pathLst>
                <a:path w="5486400" h="5486400">
                  <a:moveTo>
                    <a:pt x="0" y="0"/>
                  </a:moveTo>
                  <a:lnTo>
                    <a:pt x="5486400" y="0"/>
                  </a:lnTo>
                  <a:lnTo>
                    <a:pt x="5486400" y="5486400"/>
                  </a:lnTo>
                  <a:lnTo>
                    <a:pt x="0" y="5486400"/>
                  </a:lnTo>
                  <a:lnTo>
                    <a:pt x="0" y="0"/>
                  </a:lnTo>
                  <a:close/>
                </a:path>
              </a:pathLst>
            </a:custGeom>
            <a:blipFill>
              <a:blip r:embed="rId5">
                <a:alphaModFix amt="43999"/>
                <a:extLst>
                  <a:ext uri="{96DAC541-7B7A-43D3-8B79-37D633B846F1}">
                    <asvg:svgBlip xmlns:asvg="http://schemas.microsoft.com/office/drawing/2016/SVG/main" r:embed="rId6"/>
                  </a:ext>
                </a:extLst>
              </a:blip>
              <a:stretch>
                <a:fillRect/>
              </a:stretch>
            </a:blipFill>
          </p:spPr>
        </p:sp>
        <p:sp>
          <p:nvSpPr>
            <p:cNvPr id="6" name="Freeform 6"/>
            <p:cNvSpPr/>
            <p:nvPr/>
          </p:nvSpPr>
          <p:spPr>
            <a:xfrm>
              <a:off x="0" y="0"/>
              <a:ext cx="8007228" cy="7861642"/>
            </a:xfrm>
            <a:custGeom>
              <a:avLst/>
              <a:gdLst/>
              <a:ahLst/>
              <a:cxnLst/>
              <a:rect l="l" t="t" r="r" b="b"/>
              <a:pathLst>
                <a:path w="8007228" h="7861642">
                  <a:moveTo>
                    <a:pt x="0" y="0"/>
                  </a:moveTo>
                  <a:lnTo>
                    <a:pt x="8007228" y="0"/>
                  </a:lnTo>
                  <a:lnTo>
                    <a:pt x="8007228" y="7861642"/>
                  </a:lnTo>
                  <a:lnTo>
                    <a:pt x="0" y="7861642"/>
                  </a:lnTo>
                  <a:lnTo>
                    <a:pt x="0" y="0"/>
                  </a:lnTo>
                  <a:close/>
                </a:path>
              </a:pathLst>
            </a:custGeom>
            <a:blipFill>
              <a:blip r:embed="rId7">
                <a:alphaModFix amt="43999"/>
                <a:extLst>
                  <a:ext uri="{96DAC541-7B7A-43D3-8B79-37D633B846F1}">
                    <asvg:svgBlip xmlns:asvg="http://schemas.microsoft.com/office/drawing/2016/SVG/main" r:embed="rId8"/>
                  </a:ext>
                </a:extLst>
              </a:blip>
              <a:stretch>
                <a:fillRect/>
              </a:stretch>
            </a:blipFill>
          </p:spPr>
        </p:sp>
      </p:grpSp>
      <p:sp>
        <p:nvSpPr>
          <p:cNvPr id="7" name="Freeform 7"/>
          <p:cNvSpPr/>
          <p:nvPr/>
        </p:nvSpPr>
        <p:spPr>
          <a:xfrm>
            <a:off x="12999582" y="0"/>
            <a:ext cx="4259718" cy="10287000"/>
          </a:xfrm>
          <a:custGeom>
            <a:avLst/>
            <a:gdLst/>
            <a:ahLst/>
            <a:cxnLst/>
            <a:rect l="l" t="t" r="r" b="b"/>
            <a:pathLst>
              <a:path w="4259718" h="10287000">
                <a:moveTo>
                  <a:pt x="0" y="0"/>
                </a:moveTo>
                <a:lnTo>
                  <a:pt x="4259718" y="0"/>
                </a:lnTo>
                <a:lnTo>
                  <a:pt x="4259718" y="10287000"/>
                </a:lnTo>
                <a:lnTo>
                  <a:pt x="0" y="10287000"/>
                </a:lnTo>
                <a:lnTo>
                  <a:pt x="0" y="0"/>
                </a:lnTo>
                <a:close/>
              </a:path>
            </a:pathLst>
          </a:custGeom>
          <a:blipFill>
            <a:blip r:embed="rId9"/>
            <a:stretch>
              <a:fillRect l="-33490" r="-25291"/>
            </a:stretch>
          </a:blipFill>
        </p:spPr>
      </p:sp>
      <p:sp>
        <p:nvSpPr>
          <p:cNvPr id="8" name="TextBox 8"/>
          <p:cNvSpPr txBox="1"/>
          <p:nvPr/>
        </p:nvSpPr>
        <p:spPr>
          <a:xfrm>
            <a:off x="304800" y="1263524"/>
            <a:ext cx="6882996" cy="765594"/>
          </a:xfrm>
          <a:prstGeom prst="rect">
            <a:avLst/>
          </a:prstGeom>
        </p:spPr>
        <p:txBody>
          <a:bodyPr lIns="0" tIns="0" rIns="0" bIns="0" rtlCol="0" anchor="t">
            <a:spAutoFit/>
          </a:bodyPr>
          <a:lstStyle/>
          <a:p>
            <a:pPr algn="ctr">
              <a:lnSpc>
                <a:spcPts val="4779"/>
              </a:lnSpc>
            </a:pPr>
            <a:r>
              <a:rPr lang="en-US" sz="7600" b="1" dirty="0">
                <a:solidFill>
                  <a:srgbClr val="FFFFFF"/>
                </a:solidFill>
                <a:latin typeface="Sarpanch" panose="020B0604020202020204" charset="0"/>
                <a:ea typeface="Proxima Nova Bold"/>
                <a:cs typeface="Sarpanch" panose="020B0604020202020204" charset="0"/>
                <a:sym typeface="Proxima Nova Bold"/>
              </a:rPr>
              <a:t>WORKFLOW :</a:t>
            </a:r>
          </a:p>
        </p:txBody>
      </p:sp>
      <p:sp>
        <p:nvSpPr>
          <p:cNvPr id="9" name="TextBox 9"/>
          <p:cNvSpPr txBox="1"/>
          <p:nvPr/>
        </p:nvSpPr>
        <p:spPr>
          <a:xfrm>
            <a:off x="604303" y="2675021"/>
            <a:ext cx="11575417" cy="5027338"/>
          </a:xfrm>
          <a:prstGeom prst="rect">
            <a:avLst/>
          </a:prstGeom>
        </p:spPr>
        <p:txBody>
          <a:bodyPr lIns="0" tIns="0" rIns="0" bIns="0" rtlCol="0" anchor="t">
            <a:spAutoFit/>
          </a:bodyPr>
          <a:lstStyle/>
          <a:p>
            <a:pPr algn="just">
              <a:lnSpc>
                <a:spcPts val="4409"/>
              </a:lnSpc>
            </a:pPr>
            <a:r>
              <a:rPr lang="en-US" sz="3149" dirty="0">
                <a:solidFill>
                  <a:srgbClr val="FFFFFF"/>
                </a:solidFill>
                <a:latin typeface="Proxima Nova"/>
                <a:ea typeface="Proxima Nova"/>
                <a:cs typeface="Proxima Nova"/>
                <a:sym typeface="Proxima Nova"/>
              </a:rPr>
              <a:t>■ The student enters notes, questions, or code in the web interface.</a:t>
            </a:r>
          </a:p>
          <a:p>
            <a:pPr algn="just">
              <a:lnSpc>
                <a:spcPts val="4409"/>
              </a:lnSpc>
            </a:pPr>
            <a:r>
              <a:rPr lang="en-US" sz="3149" dirty="0">
                <a:solidFill>
                  <a:srgbClr val="FFFFFF"/>
                </a:solidFill>
                <a:latin typeface="Proxima Nova"/>
                <a:ea typeface="Proxima Nova"/>
                <a:cs typeface="Proxima Nova"/>
                <a:sym typeface="Proxima Nova"/>
              </a:rPr>
              <a:t>■ The frontend sends the request to the Flask backend.</a:t>
            </a:r>
          </a:p>
          <a:p>
            <a:pPr algn="just">
              <a:lnSpc>
                <a:spcPts val="4409"/>
              </a:lnSpc>
            </a:pPr>
            <a:r>
              <a:rPr lang="en-US" sz="3149" dirty="0">
                <a:solidFill>
                  <a:srgbClr val="FFFFFF"/>
                </a:solidFill>
                <a:latin typeface="Proxima Nova"/>
                <a:ea typeface="Proxima Nova"/>
                <a:cs typeface="Proxima Nova"/>
                <a:sym typeface="Proxima Nova"/>
              </a:rPr>
              <a:t>■ The backend processes the input and sends it to the Generative AI API.</a:t>
            </a:r>
          </a:p>
          <a:p>
            <a:pPr algn="just">
              <a:lnSpc>
                <a:spcPts val="4409"/>
              </a:lnSpc>
            </a:pPr>
            <a:r>
              <a:rPr lang="en-US" sz="3149" dirty="0">
                <a:solidFill>
                  <a:srgbClr val="FFFFFF"/>
                </a:solidFill>
                <a:latin typeface="Proxima Nova"/>
                <a:ea typeface="Proxima Nova"/>
                <a:cs typeface="Proxima Nova"/>
                <a:sym typeface="Proxima Nova"/>
              </a:rPr>
              <a:t>■ The AI model generates explanations, summaries, quizzes, and flashcards.</a:t>
            </a:r>
          </a:p>
          <a:p>
            <a:pPr algn="just">
              <a:lnSpc>
                <a:spcPts val="4409"/>
              </a:lnSpc>
              <a:spcBef>
                <a:spcPct val="0"/>
              </a:spcBef>
            </a:pPr>
            <a:r>
              <a:rPr lang="en-US" sz="3149" dirty="0">
                <a:solidFill>
                  <a:srgbClr val="FFFFFF"/>
                </a:solidFill>
                <a:latin typeface="Proxima Nova"/>
                <a:ea typeface="Proxima Nova"/>
                <a:cs typeface="Proxima Nova"/>
                <a:sym typeface="Proxima Nova"/>
              </a:rPr>
              <a:t>■ The results are returned and displayed to the student on the interface.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229"/>
        </a:solidFill>
        <a:effectLst/>
      </p:bgPr>
    </p:bg>
    <p:spTree>
      <p:nvGrpSpPr>
        <p:cNvPr id="1" name=""/>
        <p:cNvGrpSpPr/>
        <p:nvPr/>
      </p:nvGrpSpPr>
      <p:grpSpPr>
        <a:xfrm>
          <a:off x="0" y="0"/>
          <a:ext cx="0" cy="0"/>
          <a:chOff x="0" y="0"/>
          <a:chExt cx="0" cy="0"/>
        </a:xfrm>
      </p:grpSpPr>
      <p:sp>
        <p:nvSpPr>
          <p:cNvPr id="2" name="Freeform 2"/>
          <p:cNvSpPr/>
          <p:nvPr/>
        </p:nvSpPr>
        <p:spPr>
          <a:xfrm flipH="1" flipV="1">
            <a:off x="1265866" y="38452"/>
            <a:ext cx="17248474" cy="7086248"/>
          </a:xfrm>
          <a:custGeom>
            <a:avLst/>
            <a:gdLst/>
            <a:ahLst/>
            <a:cxnLst/>
            <a:rect l="l" t="t" r="r" b="b"/>
            <a:pathLst>
              <a:path w="17248474" h="7086248">
                <a:moveTo>
                  <a:pt x="17248473" y="7086248"/>
                </a:moveTo>
                <a:lnTo>
                  <a:pt x="0" y="7086248"/>
                </a:lnTo>
                <a:lnTo>
                  <a:pt x="0" y="0"/>
                </a:lnTo>
                <a:lnTo>
                  <a:pt x="17248473" y="0"/>
                </a:lnTo>
                <a:lnTo>
                  <a:pt x="17248473" y="7086248"/>
                </a:lnTo>
                <a:close/>
              </a:path>
            </a:pathLst>
          </a:custGeom>
          <a:blipFill>
            <a:blip r:embed="rId2">
              <a:alphaModFix amt="72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2969927" y="8275106"/>
            <a:ext cx="4289373" cy="483529"/>
          </a:xfrm>
          <a:custGeom>
            <a:avLst/>
            <a:gdLst/>
            <a:ahLst/>
            <a:cxnLst/>
            <a:rect l="l" t="t" r="r" b="b"/>
            <a:pathLst>
              <a:path w="4289373" h="483529">
                <a:moveTo>
                  <a:pt x="0" y="0"/>
                </a:moveTo>
                <a:lnTo>
                  <a:pt x="4289373" y="0"/>
                </a:lnTo>
                <a:lnTo>
                  <a:pt x="4289373" y="483529"/>
                </a:lnTo>
                <a:lnTo>
                  <a:pt x="0" y="4835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24000" y="2476500"/>
            <a:ext cx="15879134" cy="6883495"/>
          </a:xfrm>
          <a:custGeom>
            <a:avLst/>
            <a:gdLst/>
            <a:ahLst/>
            <a:cxnLst/>
            <a:rect l="l" t="t" r="r" b="b"/>
            <a:pathLst>
              <a:path w="14757617" h="6883495">
                <a:moveTo>
                  <a:pt x="0" y="0"/>
                </a:moveTo>
                <a:lnTo>
                  <a:pt x="14757617" y="0"/>
                </a:lnTo>
                <a:lnTo>
                  <a:pt x="14757617" y="6883495"/>
                </a:lnTo>
                <a:lnTo>
                  <a:pt x="0" y="6883495"/>
                </a:lnTo>
                <a:lnTo>
                  <a:pt x="0" y="0"/>
                </a:lnTo>
                <a:close/>
              </a:path>
            </a:pathLst>
          </a:custGeom>
          <a:blipFill>
            <a:blip r:embed="rId6"/>
            <a:stretch>
              <a:fillRect l="-3616" t="-19869" r="-3164" b="-4897"/>
            </a:stretch>
          </a:blipFill>
        </p:spPr>
      </p:sp>
      <p:sp>
        <p:nvSpPr>
          <p:cNvPr id="5" name="TextBox 5"/>
          <p:cNvSpPr txBox="1"/>
          <p:nvPr/>
        </p:nvSpPr>
        <p:spPr>
          <a:xfrm>
            <a:off x="1265866" y="1114425"/>
            <a:ext cx="10600854" cy="1004314"/>
          </a:xfrm>
          <a:prstGeom prst="rect">
            <a:avLst/>
          </a:prstGeom>
        </p:spPr>
        <p:txBody>
          <a:bodyPr lIns="0" tIns="0" rIns="0" bIns="0" rtlCol="0" anchor="t">
            <a:spAutoFit/>
          </a:bodyPr>
          <a:lstStyle/>
          <a:p>
            <a:pPr algn="just">
              <a:lnSpc>
                <a:spcPts val="7603"/>
              </a:lnSpc>
            </a:pPr>
            <a:r>
              <a:rPr lang="en-US" sz="7106" b="1" dirty="0">
                <a:solidFill>
                  <a:srgbClr val="FFFFFF"/>
                </a:solidFill>
                <a:latin typeface="Sarpanch" panose="020B0604020202020204" charset="0"/>
                <a:ea typeface="Tomorrow Bold"/>
                <a:cs typeface="Sarpanch" panose="020B0604020202020204" charset="0"/>
                <a:sym typeface="Tomorrow Bold"/>
              </a:rPr>
              <a:t>System Architecture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3" name="Freeform 3"/>
          <p:cNvSpPr/>
          <p:nvPr/>
        </p:nvSpPr>
        <p:spPr>
          <a:xfrm>
            <a:off x="-6932201" y="-2228941"/>
            <a:ext cx="11563441" cy="11563441"/>
          </a:xfrm>
          <a:custGeom>
            <a:avLst/>
            <a:gdLst/>
            <a:ahLst/>
            <a:cxnLst/>
            <a:rect l="l" t="t" r="r" b="b"/>
            <a:pathLst>
              <a:path w="11563441" h="11563441">
                <a:moveTo>
                  <a:pt x="0" y="0"/>
                </a:moveTo>
                <a:lnTo>
                  <a:pt x="11563442" y="0"/>
                </a:lnTo>
                <a:lnTo>
                  <a:pt x="11563442"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914400" y="602524"/>
            <a:ext cx="11239500" cy="1078116"/>
          </a:xfrm>
          <a:prstGeom prst="rect">
            <a:avLst/>
          </a:prstGeom>
        </p:spPr>
        <p:txBody>
          <a:bodyPr wrap="square" lIns="0" tIns="0" rIns="0" bIns="0" rtlCol="0" anchor="t">
            <a:spAutoFit/>
          </a:bodyPr>
          <a:lstStyle/>
          <a:p>
            <a:pPr algn="l">
              <a:lnSpc>
                <a:spcPts val="8085"/>
              </a:lnSpc>
            </a:pPr>
            <a:r>
              <a:rPr lang="en-US" sz="7774" b="1" dirty="0">
                <a:solidFill>
                  <a:srgbClr val="FFFFFF"/>
                </a:solidFill>
                <a:latin typeface="Sarpanch" panose="020B0604020202020204" charset="0"/>
                <a:ea typeface="Sarpanch Ultra-Bold"/>
                <a:cs typeface="Sarpanch" panose="020B0604020202020204" charset="0"/>
                <a:sym typeface="Sarpanch Ultra-Bold"/>
              </a:rPr>
              <a:t>Real World Impact :  </a:t>
            </a:r>
          </a:p>
        </p:txBody>
      </p:sp>
      <p:sp>
        <p:nvSpPr>
          <p:cNvPr id="5" name="TextBox 5"/>
          <p:cNvSpPr txBox="1"/>
          <p:nvPr/>
        </p:nvSpPr>
        <p:spPr>
          <a:xfrm>
            <a:off x="1028700" y="1919666"/>
            <a:ext cx="14021322" cy="8238858"/>
          </a:xfrm>
          <a:prstGeom prst="rect">
            <a:avLst/>
          </a:prstGeom>
        </p:spPr>
        <p:txBody>
          <a:bodyPr lIns="0" tIns="0" rIns="0" bIns="0" rtlCol="0" anchor="t">
            <a:spAutoFit/>
          </a:bodyPr>
          <a:lstStyle/>
          <a:p>
            <a:pPr algn="l">
              <a:lnSpc>
                <a:spcPts val="4646"/>
              </a:lnSpc>
            </a:pPr>
            <a:r>
              <a:rPr lang="en-US" sz="3319" dirty="0">
                <a:solidFill>
                  <a:srgbClr val="FFFFFF"/>
                </a:solidFill>
                <a:latin typeface="Sarpanch"/>
                <a:ea typeface="Sarpanch"/>
                <a:cs typeface="Sarpanch"/>
                <a:sym typeface="Sarpanch"/>
              </a:rPr>
              <a:t>🔹 </a:t>
            </a:r>
            <a:r>
              <a:rPr lang="en-US" sz="3319" b="1" dirty="0">
                <a:solidFill>
                  <a:srgbClr val="FFFFFF"/>
                </a:solidFill>
                <a:latin typeface="Sarpanch Ultra-Bold"/>
                <a:ea typeface="Sarpanch Ultra-Bold"/>
                <a:cs typeface="Sarpanch Ultra-Bold"/>
                <a:sym typeface="Sarpanch Ultra-Bold"/>
              </a:rPr>
              <a:t>Who Will Use It</a:t>
            </a:r>
          </a:p>
          <a:p>
            <a:pPr algn="l">
              <a:lnSpc>
                <a:spcPts val="4646"/>
              </a:lnSpc>
            </a:pPr>
            <a:r>
              <a:rPr lang="en-US" sz="3319" dirty="0">
                <a:solidFill>
                  <a:srgbClr val="FFFFFF"/>
                </a:solidFill>
                <a:latin typeface="Sarpanch"/>
                <a:ea typeface="Sarpanch"/>
                <a:cs typeface="Sarpanch"/>
                <a:sym typeface="Sarpanch"/>
              </a:rPr>
              <a:t> • School and college students</a:t>
            </a:r>
          </a:p>
          <a:p>
            <a:pPr algn="l">
              <a:lnSpc>
                <a:spcPts val="4646"/>
              </a:lnSpc>
            </a:pPr>
            <a:r>
              <a:rPr lang="en-US" sz="3319" dirty="0">
                <a:solidFill>
                  <a:srgbClr val="FFFFFF"/>
                </a:solidFill>
                <a:latin typeface="Sarpanch"/>
                <a:ea typeface="Sarpanch"/>
                <a:cs typeface="Sarpanch"/>
                <a:sym typeface="Sarpanch"/>
              </a:rPr>
              <a:t> • Online learners and self-learners</a:t>
            </a:r>
          </a:p>
          <a:p>
            <a:pPr algn="l">
              <a:lnSpc>
                <a:spcPts val="4646"/>
              </a:lnSpc>
            </a:pPr>
            <a:r>
              <a:rPr lang="en-US" sz="3319" dirty="0">
                <a:solidFill>
                  <a:srgbClr val="FFFFFF"/>
                </a:solidFill>
                <a:latin typeface="Sarpanch"/>
                <a:ea typeface="Sarpanch"/>
                <a:cs typeface="Sarpanch"/>
                <a:sym typeface="Sarpanch"/>
              </a:rPr>
              <a:t> • Teachers for creating study materials</a:t>
            </a:r>
          </a:p>
          <a:p>
            <a:pPr algn="l">
              <a:lnSpc>
                <a:spcPts val="4646"/>
              </a:lnSpc>
            </a:pPr>
            <a:r>
              <a:rPr lang="en-US" sz="3319" dirty="0">
                <a:solidFill>
                  <a:srgbClr val="FFFFFF"/>
                </a:solidFill>
                <a:latin typeface="Sarpanch"/>
                <a:ea typeface="Sarpanch"/>
                <a:cs typeface="Sarpanch"/>
                <a:sym typeface="Sarpanch"/>
              </a:rPr>
              <a:t>🔹 </a:t>
            </a:r>
            <a:r>
              <a:rPr lang="en-US" sz="3319" b="1" dirty="0">
                <a:solidFill>
                  <a:srgbClr val="FFFFFF"/>
                </a:solidFill>
                <a:latin typeface="Sarpanch Ultra-Bold"/>
                <a:ea typeface="Sarpanch Ultra-Bold"/>
                <a:cs typeface="Sarpanch Ultra-Bold"/>
                <a:sym typeface="Sarpanch Ultra-Bold"/>
              </a:rPr>
              <a:t>How It Helps</a:t>
            </a:r>
          </a:p>
          <a:p>
            <a:pPr algn="l">
              <a:lnSpc>
                <a:spcPts val="4646"/>
              </a:lnSpc>
            </a:pPr>
            <a:r>
              <a:rPr lang="en-US" sz="3319" dirty="0">
                <a:solidFill>
                  <a:srgbClr val="FFFFFF"/>
                </a:solidFill>
                <a:latin typeface="Sarpanch"/>
                <a:ea typeface="Sarpanch"/>
                <a:cs typeface="Sarpanch"/>
                <a:sym typeface="Sarpanch"/>
              </a:rPr>
              <a:t> • Makes complex topics easy to understand</a:t>
            </a:r>
          </a:p>
          <a:p>
            <a:pPr algn="l">
              <a:lnSpc>
                <a:spcPts val="4646"/>
              </a:lnSpc>
            </a:pPr>
            <a:r>
              <a:rPr lang="en-US" sz="3319" dirty="0">
                <a:solidFill>
                  <a:srgbClr val="FFFFFF"/>
                </a:solidFill>
                <a:latin typeface="Sarpanch"/>
                <a:ea typeface="Sarpanch"/>
                <a:cs typeface="Sarpanch"/>
                <a:sym typeface="Sarpanch"/>
              </a:rPr>
              <a:t> • Saves time with AI summaries, quizzes, and flashcards</a:t>
            </a:r>
          </a:p>
          <a:p>
            <a:pPr algn="l">
              <a:lnSpc>
                <a:spcPts val="4646"/>
              </a:lnSpc>
            </a:pPr>
            <a:r>
              <a:rPr lang="en-US" sz="3319" dirty="0">
                <a:solidFill>
                  <a:srgbClr val="FFFFFF"/>
                </a:solidFill>
                <a:latin typeface="Sarpanch"/>
                <a:ea typeface="Sarpanch"/>
                <a:cs typeface="Sarpanch"/>
                <a:sym typeface="Sarpanch"/>
              </a:rPr>
              <a:t> • Supports personalized and interactive learning</a:t>
            </a:r>
          </a:p>
          <a:p>
            <a:pPr algn="l">
              <a:lnSpc>
                <a:spcPts val="4646"/>
              </a:lnSpc>
            </a:pPr>
            <a:r>
              <a:rPr lang="en-US" sz="3319" dirty="0">
                <a:solidFill>
                  <a:srgbClr val="FFFFFF"/>
                </a:solidFill>
                <a:latin typeface="Sarpanch"/>
                <a:ea typeface="Sarpanch"/>
                <a:cs typeface="Sarpanch"/>
                <a:sym typeface="Sarpanch"/>
              </a:rPr>
              <a:t>🔹 </a:t>
            </a:r>
            <a:r>
              <a:rPr lang="en-US" sz="3319" b="1" dirty="0">
                <a:solidFill>
                  <a:srgbClr val="FFFFFF"/>
                </a:solidFill>
                <a:latin typeface="Sarpanch Ultra-Bold"/>
                <a:ea typeface="Sarpanch Ultra-Bold"/>
                <a:cs typeface="Sarpanch Ultra-Bold"/>
                <a:sym typeface="Sarpanch Ultra-Bold"/>
              </a:rPr>
              <a:t>Market Opportunity</a:t>
            </a:r>
          </a:p>
          <a:p>
            <a:pPr algn="l">
              <a:lnSpc>
                <a:spcPts val="4646"/>
              </a:lnSpc>
            </a:pPr>
            <a:r>
              <a:rPr lang="en-US" sz="3319" dirty="0">
                <a:solidFill>
                  <a:srgbClr val="FFFFFF"/>
                </a:solidFill>
                <a:latin typeface="Sarpanch"/>
                <a:ea typeface="Sarpanch"/>
                <a:cs typeface="Sarpanch"/>
                <a:sym typeface="Sarpanch"/>
              </a:rPr>
              <a:t> • Growing demand for AI in education</a:t>
            </a:r>
          </a:p>
          <a:p>
            <a:pPr algn="l">
              <a:lnSpc>
                <a:spcPts val="4646"/>
              </a:lnSpc>
            </a:pPr>
            <a:r>
              <a:rPr lang="en-US" sz="3319" dirty="0">
                <a:solidFill>
                  <a:srgbClr val="FFFFFF"/>
                </a:solidFill>
                <a:latin typeface="Sarpanch"/>
                <a:ea typeface="Sarpanch"/>
                <a:cs typeface="Sarpanch"/>
                <a:sym typeface="Sarpanch"/>
              </a:rPr>
              <a:t> • Can be integrated into schools, colleges, and e-learning    platforms</a:t>
            </a:r>
          </a:p>
          <a:p>
            <a:pPr algn="l">
              <a:lnSpc>
                <a:spcPts val="4646"/>
              </a:lnSpc>
            </a:pPr>
            <a:r>
              <a:rPr lang="en-US" sz="3319" dirty="0">
                <a:solidFill>
                  <a:srgbClr val="FFFFFF"/>
                </a:solidFill>
                <a:latin typeface="Sarpanch"/>
                <a:ea typeface="Sarpanch"/>
                <a:cs typeface="Sarpanch"/>
                <a:sym typeface="Sarpanch"/>
              </a:rPr>
              <a:t> • Supports the future of smart digital learning</a:t>
            </a:r>
          </a:p>
          <a:p>
            <a:pPr algn="l">
              <a:lnSpc>
                <a:spcPts val="4646"/>
              </a:lnSpc>
              <a:spcBef>
                <a:spcPct val="0"/>
              </a:spcBef>
            </a:pPr>
            <a:endParaRPr lang="en-US" sz="3319" dirty="0">
              <a:solidFill>
                <a:srgbClr val="FFFFFF"/>
              </a:solidFill>
              <a:latin typeface="Sarpanch"/>
              <a:ea typeface="Sarpanch"/>
              <a:cs typeface="Sarpanch"/>
              <a:sym typeface="Sarpanch"/>
            </a:endParaRPr>
          </a:p>
        </p:txBody>
      </p:sp>
      <p:sp>
        <p:nvSpPr>
          <p:cNvPr id="6" name="Freeform 6"/>
          <p:cNvSpPr/>
          <p:nvPr/>
        </p:nvSpPr>
        <p:spPr>
          <a:xfrm>
            <a:off x="10132864" y="4234828"/>
            <a:ext cx="11563441" cy="11563441"/>
          </a:xfrm>
          <a:custGeom>
            <a:avLst/>
            <a:gdLst/>
            <a:ahLst/>
            <a:cxnLst/>
            <a:rect l="l" t="t" r="r" b="b"/>
            <a:pathLst>
              <a:path w="11563441" h="11563441">
                <a:moveTo>
                  <a:pt x="0" y="0"/>
                </a:moveTo>
                <a:lnTo>
                  <a:pt x="11563441" y="0"/>
                </a:lnTo>
                <a:lnTo>
                  <a:pt x="11563441" y="11563442"/>
                </a:lnTo>
                <a:lnTo>
                  <a:pt x="0" y="11563442"/>
                </a:lnTo>
                <a:lnTo>
                  <a:pt x="0"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a:off x="8645109" y="3383880"/>
            <a:ext cx="8258368" cy="5425113"/>
          </a:xfrm>
          <a:custGeom>
            <a:avLst/>
            <a:gdLst/>
            <a:ahLst/>
            <a:cxnLst/>
            <a:rect l="l" t="t" r="r" b="b"/>
            <a:pathLst>
              <a:path w="8258368" h="5425113">
                <a:moveTo>
                  <a:pt x="0" y="0"/>
                </a:moveTo>
                <a:lnTo>
                  <a:pt x="8258368" y="0"/>
                </a:lnTo>
                <a:lnTo>
                  <a:pt x="8258368" y="5425113"/>
                </a:lnTo>
                <a:lnTo>
                  <a:pt x="0" y="5425113"/>
                </a:lnTo>
                <a:lnTo>
                  <a:pt x="0" y="0"/>
                </a:lnTo>
                <a:close/>
              </a:path>
            </a:pathLst>
          </a:custGeom>
          <a:blipFill>
            <a:blip r:embed="rId3">
              <a:alphaModFix amt="23000"/>
              <a:extLst>
                <a:ext uri="{96DAC541-7B7A-43D3-8B79-37D633B846F1}">
                  <asvg:svgBlip xmlns:asvg="http://schemas.microsoft.com/office/drawing/2016/SVG/main" r:embed="rId4"/>
                </a:ext>
              </a:extLst>
            </a:blip>
            <a:stretch>
              <a:fillRect/>
            </a:stretch>
          </a:blipFill>
        </p:spPr>
      </p:sp>
      <p:sp>
        <p:nvSpPr>
          <p:cNvPr id="4" name="Freeform 4"/>
          <p:cNvSpPr/>
          <p:nvPr/>
        </p:nvSpPr>
        <p:spPr>
          <a:xfrm>
            <a:off x="5466630" y="3789769"/>
            <a:ext cx="6356958" cy="5439560"/>
          </a:xfrm>
          <a:custGeom>
            <a:avLst/>
            <a:gdLst/>
            <a:ahLst/>
            <a:cxnLst/>
            <a:rect l="l" t="t" r="r" b="b"/>
            <a:pathLst>
              <a:path w="6356958" h="5439560">
                <a:moveTo>
                  <a:pt x="0" y="0"/>
                </a:moveTo>
                <a:lnTo>
                  <a:pt x="6356958" y="0"/>
                </a:lnTo>
                <a:lnTo>
                  <a:pt x="6356958" y="5439559"/>
                </a:lnTo>
                <a:lnTo>
                  <a:pt x="0" y="5439559"/>
                </a:lnTo>
                <a:lnTo>
                  <a:pt x="0" y="0"/>
                </a:lnTo>
                <a:close/>
              </a:path>
            </a:pathLst>
          </a:custGeom>
          <a:blipFill>
            <a:blip r:embed="rId5"/>
            <a:stretch>
              <a:fillRect t="-4990" b="-11874"/>
            </a:stretch>
          </a:blipFill>
        </p:spPr>
        <p:txBody>
          <a:bodyPr/>
          <a:lstStyle/>
          <a:p>
            <a:endParaRPr lang="en-IN" dirty="0"/>
          </a:p>
        </p:txBody>
      </p:sp>
      <p:sp>
        <p:nvSpPr>
          <p:cNvPr id="5" name="TextBox 5"/>
          <p:cNvSpPr txBox="1"/>
          <p:nvPr/>
        </p:nvSpPr>
        <p:spPr>
          <a:xfrm>
            <a:off x="2514600" y="2591030"/>
            <a:ext cx="13977246" cy="589905"/>
          </a:xfrm>
          <a:prstGeom prst="rect">
            <a:avLst/>
          </a:prstGeom>
        </p:spPr>
        <p:txBody>
          <a:bodyPr lIns="0" tIns="0" rIns="0" bIns="0" rtlCol="0" anchor="t">
            <a:spAutoFit/>
          </a:bodyPr>
          <a:lstStyle/>
          <a:p>
            <a:pPr algn="l">
              <a:lnSpc>
                <a:spcPts val="4618"/>
              </a:lnSpc>
              <a:spcBef>
                <a:spcPct val="0"/>
              </a:spcBef>
            </a:pPr>
            <a:r>
              <a:rPr lang="en-US" sz="4400" b="1" dirty="0">
                <a:solidFill>
                  <a:srgbClr val="FFFFFF"/>
                </a:solidFill>
                <a:latin typeface="Proxima Nova"/>
                <a:ea typeface="Proxima Nova"/>
                <a:cs typeface="Proxima Nova"/>
                <a:sym typeface="Proxima Nova"/>
              </a:rPr>
              <a:t>https://github.com/jashwanthodapelli/StudyMate</a:t>
            </a:r>
          </a:p>
        </p:txBody>
      </p:sp>
      <p:sp>
        <p:nvSpPr>
          <p:cNvPr id="6" name="TextBox 6"/>
          <p:cNvSpPr txBox="1"/>
          <p:nvPr/>
        </p:nvSpPr>
        <p:spPr>
          <a:xfrm>
            <a:off x="885159" y="930429"/>
            <a:ext cx="10675706" cy="1094146"/>
          </a:xfrm>
          <a:prstGeom prst="rect">
            <a:avLst/>
          </a:prstGeom>
        </p:spPr>
        <p:txBody>
          <a:bodyPr lIns="0" tIns="0" rIns="0" bIns="0" rtlCol="0" anchor="t">
            <a:spAutoFit/>
          </a:bodyPr>
          <a:lstStyle/>
          <a:p>
            <a:pPr algn="l">
              <a:lnSpc>
                <a:spcPts val="8109"/>
              </a:lnSpc>
            </a:pPr>
            <a:r>
              <a:rPr lang="en-US" sz="8191" b="1" dirty="0">
                <a:solidFill>
                  <a:srgbClr val="FFFFFF"/>
                </a:solidFill>
                <a:latin typeface="Sarpanch"/>
                <a:ea typeface="Sarpanch"/>
                <a:cs typeface="Sarpanch"/>
                <a:sym typeface="Sarpanch"/>
              </a:rPr>
              <a:t>REPOSITORY LINK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411D20E-3C16-0DFC-E595-DDB74D406F8B}"/>
              </a:ext>
            </a:extLst>
          </p:cNvPr>
          <p:cNvPicPr>
            <a:picLocks noChangeAspect="1"/>
          </p:cNvPicPr>
          <p:nvPr/>
        </p:nvPicPr>
        <p:blipFill>
          <a:blip r:embed="rId2">
            <a:extLst>
              <a:ext uri="{28A0092B-C50C-407E-A947-70E740481C1C}">
                <a14:useLocalDpi xmlns:a14="http://schemas.microsoft.com/office/drawing/2010/main" val="0"/>
              </a:ext>
            </a:extLst>
          </a:blip>
          <a:srcRect t="11111" r="9167" b="5926"/>
          <a:stretch>
            <a:fillRect/>
          </a:stretch>
        </p:blipFill>
        <p:spPr>
          <a:xfrm>
            <a:off x="0" y="-266700"/>
            <a:ext cx="9492343" cy="4953000"/>
          </a:xfrm>
          <a:prstGeom prst="rect">
            <a:avLst/>
          </a:prstGeom>
        </p:spPr>
      </p:pic>
      <p:pic>
        <p:nvPicPr>
          <p:cNvPr id="11" name="Picture 10">
            <a:extLst>
              <a:ext uri="{FF2B5EF4-FFF2-40B4-BE49-F238E27FC236}">
                <a16:creationId xmlns:a16="http://schemas.microsoft.com/office/drawing/2014/main" id="{41016377-6A60-32A5-CCBE-448F642E426F}"/>
              </a:ext>
            </a:extLst>
          </p:cNvPr>
          <p:cNvPicPr>
            <a:picLocks noChangeAspect="1"/>
          </p:cNvPicPr>
          <p:nvPr/>
        </p:nvPicPr>
        <p:blipFill>
          <a:blip r:embed="rId3">
            <a:extLst>
              <a:ext uri="{28A0092B-C50C-407E-A947-70E740481C1C}">
                <a14:useLocalDpi xmlns:a14="http://schemas.microsoft.com/office/drawing/2010/main" val="0"/>
              </a:ext>
            </a:extLst>
          </a:blip>
          <a:srcRect l="1250" t="13333" r="9584" b="5926"/>
          <a:stretch>
            <a:fillRect/>
          </a:stretch>
        </p:blipFill>
        <p:spPr>
          <a:xfrm>
            <a:off x="9492342" y="0"/>
            <a:ext cx="9200625" cy="4686300"/>
          </a:xfrm>
          <a:prstGeom prst="rect">
            <a:avLst/>
          </a:prstGeom>
        </p:spPr>
      </p:pic>
      <p:pic>
        <p:nvPicPr>
          <p:cNvPr id="13" name="Picture 12">
            <a:extLst>
              <a:ext uri="{FF2B5EF4-FFF2-40B4-BE49-F238E27FC236}">
                <a16:creationId xmlns:a16="http://schemas.microsoft.com/office/drawing/2014/main" id="{00B444CC-D4D1-1231-16B6-EAE4D9EB7DA6}"/>
              </a:ext>
            </a:extLst>
          </p:cNvPr>
          <p:cNvPicPr>
            <a:picLocks noChangeAspect="1"/>
          </p:cNvPicPr>
          <p:nvPr/>
        </p:nvPicPr>
        <p:blipFill>
          <a:blip r:embed="rId4">
            <a:extLst>
              <a:ext uri="{28A0092B-C50C-407E-A947-70E740481C1C}">
                <a14:useLocalDpi xmlns:a14="http://schemas.microsoft.com/office/drawing/2010/main" val="0"/>
              </a:ext>
            </a:extLst>
          </a:blip>
          <a:srcRect t="13704" r="8751" b="5555"/>
          <a:stretch>
            <a:fillRect/>
          </a:stretch>
        </p:blipFill>
        <p:spPr>
          <a:xfrm>
            <a:off x="0" y="4682613"/>
            <a:ext cx="9492341" cy="5600700"/>
          </a:xfrm>
          <a:prstGeom prst="rect">
            <a:avLst/>
          </a:prstGeom>
        </p:spPr>
      </p:pic>
      <p:pic>
        <p:nvPicPr>
          <p:cNvPr id="15" name="Picture 14">
            <a:extLst>
              <a:ext uri="{FF2B5EF4-FFF2-40B4-BE49-F238E27FC236}">
                <a16:creationId xmlns:a16="http://schemas.microsoft.com/office/drawing/2014/main" id="{5274B9E8-FF83-212C-D8F5-593DE5B672CD}"/>
              </a:ext>
            </a:extLst>
          </p:cNvPr>
          <p:cNvPicPr>
            <a:picLocks noChangeAspect="1"/>
          </p:cNvPicPr>
          <p:nvPr/>
        </p:nvPicPr>
        <p:blipFill>
          <a:blip r:embed="rId5">
            <a:extLst>
              <a:ext uri="{28A0092B-C50C-407E-A947-70E740481C1C}">
                <a14:useLocalDpi xmlns:a14="http://schemas.microsoft.com/office/drawing/2010/main" val="0"/>
              </a:ext>
            </a:extLst>
          </a:blip>
          <a:srcRect t="13704" r="8333" b="5555"/>
          <a:stretch>
            <a:fillRect/>
          </a:stretch>
        </p:blipFill>
        <p:spPr>
          <a:xfrm>
            <a:off x="9492340" y="4682612"/>
            <a:ext cx="8795659" cy="5490087"/>
          </a:xfrm>
          <a:prstGeom prst="rect">
            <a:avLst/>
          </a:prstGeom>
        </p:spPr>
      </p:pic>
    </p:spTree>
    <p:extLst>
      <p:ext uri="{BB962C8B-B14F-4D97-AF65-F5344CB8AC3E}">
        <p14:creationId xmlns:p14="http://schemas.microsoft.com/office/powerpoint/2010/main" val="694018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83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0000" r="-10000"/>
            </a:stretch>
          </a:blipFill>
        </p:spPr>
      </p:sp>
      <p:sp>
        <p:nvSpPr>
          <p:cNvPr id="3" name="Freeform 3"/>
          <p:cNvSpPr/>
          <p:nvPr/>
        </p:nvSpPr>
        <p:spPr>
          <a:xfrm>
            <a:off x="0" y="0"/>
            <a:ext cx="6472238" cy="6472238"/>
          </a:xfrm>
          <a:custGeom>
            <a:avLst/>
            <a:gdLst/>
            <a:ahLst/>
            <a:cxnLst/>
            <a:rect l="l" t="t" r="r" b="b"/>
            <a:pathLst>
              <a:path w="6472238" h="6472238">
                <a:moveTo>
                  <a:pt x="0" y="0"/>
                </a:moveTo>
                <a:lnTo>
                  <a:pt x="6472238" y="0"/>
                </a:lnTo>
                <a:lnTo>
                  <a:pt x="6472238" y="6472238"/>
                </a:lnTo>
                <a:lnTo>
                  <a:pt x="0" y="6472238"/>
                </a:lnTo>
                <a:lnTo>
                  <a:pt x="0" y="0"/>
                </a:lnTo>
                <a:close/>
              </a:path>
            </a:pathLst>
          </a:custGeom>
          <a:blipFill>
            <a:blip r:embed="rId3">
              <a:alphaModFix amt="37000"/>
              <a:extLst>
                <a:ext uri="{96DAC541-7B7A-43D3-8B79-37D633B846F1}">
                  <asvg:svgBlip xmlns:asvg="http://schemas.microsoft.com/office/drawing/2016/SVG/main" r:embed="rId4"/>
                </a:ext>
              </a:extLst>
            </a:blip>
            <a:stretch>
              <a:fillRect/>
            </a:stretch>
          </a:blipFill>
        </p:spPr>
      </p:sp>
      <p:sp>
        <p:nvSpPr>
          <p:cNvPr id="4" name="Freeform 4"/>
          <p:cNvSpPr/>
          <p:nvPr/>
        </p:nvSpPr>
        <p:spPr>
          <a:xfrm>
            <a:off x="3989614" y="6253266"/>
            <a:ext cx="3083719" cy="3083719"/>
          </a:xfrm>
          <a:custGeom>
            <a:avLst/>
            <a:gdLst/>
            <a:ahLst/>
            <a:cxnLst/>
            <a:rect l="l" t="t" r="r" b="b"/>
            <a:pathLst>
              <a:path w="3083719" h="3083719">
                <a:moveTo>
                  <a:pt x="0" y="0"/>
                </a:moveTo>
                <a:lnTo>
                  <a:pt x="3083719" y="0"/>
                </a:lnTo>
                <a:lnTo>
                  <a:pt x="3083719" y="3083719"/>
                </a:lnTo>
                <a:lnTo>
                  <a:pt x="0" y="3083719"/>
                </a:lnTo>
                <a:lnTo>
                  <a:pt x="0" y="0"/>
                </a:lnTo>
                <a:close/>
              </a:path>
            </a:pathLst>
          </a:custGeom>
          <a:blipFill>
            <a:blip r:embed="rId3">
              <a:alphaModFix amt="61000"/>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143000" y="2878101"/>
            <a:ext cx="16230600" cy="6435031"/>
          </a:xfrm>
          <a:prstGeom prst="rect">
            <a:avLst/>
          </a:prstGeom>
        </p:spPr>
        <p:txBody>
          <a:bodyPr lIns="0" tIns="0" rIns="0" bIns="0" rtlCol="0" anchor="t">
            <a:spAutoFit/>
          </a:bodyPr>
          <a:lstStyle/>
          <a:p>
            <a:pPr algn="just">
              <a:lnSpc>
                <a:spcPts val="4580"/>
              </a:lnSpc>
            </a:pPr>
            <a:r>
              <a:rPr lang="en-US" sz="3271" b="1" dirty="0">
                <a:solidFill>
                  <a:srgbClr val="FFFFFF"/>
                </a:solidFill>
                <a:latin typeface="Proxima Nova Bold"/>
                <a:ea typeface="Proxima Nova Bold"/>
                <a:cs typeface="Proxima Nova Bold"/>
                <a:sym typeface="Proxima Nova Bold"/>
              </a:rPr>
              <a:t>🔹 AI-Powered Learning</a:t>
            </a:r>
          </a:p>
          <a:p>
            <a:pPr algn="just">
              <a:lnSpc>
                <a:spcPts val="4580"/>
              </a:lnSpc>
            </a:pPr>
            <a:r>
              <a:rPr lang="en-US" sz="3271" dirty="0">
                <a:solidFill>
                  <a:srgbClr val="FFFFFF"/>
                </a:solidFill>
                <a:latin typeface="Proxima Nova"/>
                <a:ea typeface="Proxima Nova"/>
                <a:cs typeface="Proxima Nova"/>
                <a:sym typeface="Proxima Nova"/>
              </a:rPr>
              <a:t> Study Mate AI demonstrates how Generative AI can transform traditional studying into an intelligent learning experience.</a:t>
            </a:r>
          </a:p>
          <a:p>
            <a:pPr algn="just">
              <a:lnSpc>
                <a:spcPts val="4580"/>
              </a:lnSpc>
            </a:pPr>
            <a:r>
              <a:rPr lang="en-US" sz="3271" b="1" dirty="0">
                <a:solidFill>
                  <a:srgbClr val="FFFFFF"/>
                </a:solidFill>
                <a:latin typeface="Proxima Nova Bold"/>
                <a:ea typeface="Proxima Nova Bold"/>
                <a:cs typeface="Proxima Nova Bold"/>
                <a:sym typeface="Proxima Nova Bold"/>
              </a:rPr>
              <a:t>🔹 Smart Study Assistance</a:t>
            </a:r>
          </a:p>
          <a:p>
            <a:pPr algn="just">
              <a:lnSpc>
                <a:spcPts val="4580"/>
              </a:lnSpc>
            </a:pPr>
            <a:r>
              <a:rPr lang="en-US" sz="3271" dirty="0">
                <a:solidFill>
                  <a:srgbClr val="FFFFFF"/>
                </a:solidFill>
                <a:latin typeface="Proxima Nova"/>
                <a:ea typeface="Proxima Nova"/>
                <a:cs typeface="Proxima Nova"/>
                <a:sym typeface="Proxima Nova"/>
              </a:rPr>
              <a:t> Converts raw study material into summaries, quizzes, flashcards, and explanations to simplify complex topics.</a:t>
            </a:r>
          </a:p>
          <a:p>
            <a:pPr algn="just">
              <a:lnSpc>
                <a:spcPts val="4580"/>
              </a:lnSpc>
            </a:pPr>
            <a:r>
              <a:rPr lang="en-US" sz="3271" b="1" dirty="0">
                <a:solidFill>
                  <a:srgbClr val="FFFFFF"/>
                </a:solidFill>
                <a:latin typeface="Proxima Nova Bold"/>
                <a:ea typeface="Proxima Nova Bold"/>
                <a:cs typeface="Proxima Nova Bold"/>
                <a:sym typeface="Proxima Nova Bold"/>
              </a:rPr>
              <a:t>🔹 Faster &amp; Better Understanding</a:t>
            </a:r>
          </a:p>
          <a:p>
            <a:pPr algn="just">
              <a:lnSpc>
                <a:spcPts val="4580"/>
              </a:lnSpc>
            </a:pPr>
            <a:r>
              <a:rPr lang="en-US" sz="3271" dirty="0">
                <a:solidFill>
                  <a:srgbClr val="FFFFFF"/>
                </a:solidFill>
                <a:latin typeface="Proxima Nova"/>
                <a:ea typeface="Proxima Nova"/>
                <a:cs typeface="Proxima Nova"/>
                <a:sym typeface="Proxima Nova"/>
              </a:rPr>
              <a:t> Helps students learn faster, revise efficiently, and improve concept clarity.</a:t>
            </a:r>
          </a:p>
          <a:p>
            <a:pPr algn="just">
              <a:lnSpc>
                <a:spcPts val="4580"/>
              </a:lnSpc>
            </a:pPr>
            <a:r>
              <a:rPr lang="en-US" sz="3271" b="1" dirty="0">
                <a:solidFill>
                  <a:srgbClr val="FFFFFF"/>
                </a:solidFill>
                <a:latin typeface="Proxima Nova Bold"/>
                <a:ea typeface="Proxima Nova Bold"/>
                <a:cs typeface="Proxima Nova Bold"/>
                <a:sym typeface="Proxima Nova Bold"/>
              </a:rPr>
              <a:t>🔹 Future of Education</a:t>
            </a:r>
          </a:p>
          <a:p>
            <a:pPr algn="just">
              <a:lnSpc>
                <a:spcPts val="4580"/>
              </a:lnSpc>
              <a:spcBef>
                <a:spcPct val="0"/>
              </a:spcBef>
            </a:pPr>
            <a:r>
              <a:rPr lang="en-US" sz="3271" dirty="0">
                <a:solidFill>
                  <a:srgbClr val="FFFFFF"/>
                </a:solidFill>
                <a:latin typeface="Proxima Nova"/>
                <a:ea typeface="Proxima Nova"/>
                <a:cs typeface="Proxima Nova"/>
                <a:sym typeface="Proxima Nova"/>
              </a:rPr>
              <a:t> Represents the next step toward personalized AI-driven learning systems.</a:t>
            </a:r>
          </a:p>
          <a:p>
            <a:pPr algn="just">
              <a:lnSpc>
                <a:spcPts val="4580"/>
              </a:lnSpc>
              <a:spcBef>
                <a:spcPct val="0"/>
              </a:spcBef>
            </a:pPr>
            <a:endParaRPr lang="en-US" sz="3271" dirty="0">
              <a:solidFill>
                <a:srgbClr val="FFFFFF"/>
              </a:solidFill>
              <a:latin typeface="Proxima Nova"/>
              <a:ea typeface="Proxima Nova"/>
              <a:cs typeface="Proxima Nova"/>
              <a:sym typeface="Proxima Nova"/>
            </a:endParaRPr>
          </a:p>
        </p:txBody>
      </p:sp>
      <p:sp>
        <p:nvSpPr>
          <p:cNvPr id="6" name="TextBox 6"/>
          <p:cNvSpPr txBox="1"/>
          <p:nvPr/>
        </p:nvSpPr>
        <p:spPr>
          <a:xfrm>
            <a:off x="762000" y="1257300"/>
            <a:ext cx="6846707" cy="1026243"/>
          </a:xfrm>
          <a:prstGeom prst="rect">
            <a:avLst/>
          </a:prstGeom>
        </p:spPr>
        <p:txBody>
          <a:bodyPr lIns="0" tIns="0" rIns="0" bIns="0" rtlCol="0" anchor="t">
            <a:spAutoFit/>
          </a:bodyPr>
          <a:lstStyle/>
          <a:p>
            <a:pPr algn="r">
              <a:lnSpc>
                <a:spcPts val="7598"/>
              </a:lnSpc>
            </a:pPr>
            <a:r>
              <a:rPr lang="en-US" sz="7675" b="1" dirty="0">
                <a:solidFill>
                  <a:srgbClr val="FFFFFF"/>
                </a:solidFill>
                <a:latin typeface="Sarpanch"/>
                <a:ea typeface="Sarpanch"/>
                <a:cs typeface="Sarpanch"/>
                <a:sym typeface="Sarpanch"/>
              </a:rPr>
              <a:t>CONCLUSION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8341979" y="3489368"/>
            <a:ext cx="3238971" cy="3308265"/>
          </a:xfrm>
          <a:custGeom>
            <a:avLst/>
            <a:gdLst/>
            <a:ahLst/>
            <a:cxnLst/>
            <a:rect l="l" t="t" r="r" b="b"/>
            <a:pathLst>
              <a:path w="3238971" h="3308265">
                <a:moveTo>
                  <a:pt x="0" y="0"/>
                </a:moveTo>
                <a:lnTo>
                  <a:pt x="3238971" y="0"/>
                </a:lnTo>
                <a:lnTo>
                  <a:pt x="3238971" y="3308264"/>
                </a:lnTo>
                <a:lnTo>
                  <a:pt x="0" y="3308264"/>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2397688" y="4341166"/>
            <a:ext cx="12547811" cy="1526470"/>
          </a:xfrm>
          <a:prstGeom prst="rect">
            <a:avLst/>
          </a:prstGeom>
        </p:spPr>
        <p:txBody>
          <a:bodyPr lIns="0" tIns="0" rIns="0" bIns="0" rtlCol="0" anchor="t">
            <a:spAutoFit/>
          </a:bodyPr>
          <a:lstStyle/>
          <a:p>
            <a:pPr algn="ctr">
              <a:lnSpc>
                <a:spcPts val="11272"/>
              </a:lnSpc>
            </a:pPr>
            <a:r>
              <a:rPr lang="en-US" sz="12387" b="1">
                <a:solidFill>
                  <a:srgbClr val="FFFFFF"/>
                </a:solidFill>
                <a:latin typeface="Sarpanch Ultra-Bold"/>
                <a:ea typeface="Sarpanch Ultra-Bold"/>
                <a:cs typeface="Sarpanch Ultra-Bold"/>
                <a:sym typeface="Sarpanch Ultra-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1241</Words>
  <Application>Microsoft Office PowerPoint</Application>
  <PresentationFormat>Custom</PresentationFormat>
  <Paragraphs>96</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Proxima Nova Italics</vt:lpstr>
      <vt:lpstr>Calibri</vt:lpstr>
      <vt:lpstr>Arial</vt:lpstr>
      <vt:lpstr>Sarpanch</vt:lpstr>
      <vt:lpstr>Times New Roman MT</vt:lpstr>
      <vt:lpstr>Proxima Nova</vt:lpstr>
      <vt:lpstr>Sarpanch Ultra-Bold</vt:lpstr>
      <vt:lpstr>Proxima Nova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StudyMate</dc:title>
  <cp:lastModifiedBy>Jashwanth Odapelli</cp:lastModifiedBy>
  <cp:revision>4</cp:revision>
  <dcterms:created xsi:type="dcterms:W3CDTF">2006-08-16T00:00:00Z</dcterms:created>
  <dcterms:modified xsi:type="dcterms:W3CDTF">2026-03-18T09:51:41Z</dcterms:modified>
  <dc:identifier>DAHD0Dy0rOE</dc:identifier>
</cp:coreProperties>
</file>